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Consolas" panose="020B0609020204030204" pitchFamily="49" charset="0"/>
      <p:regular r:id="rId12"/>
      <p:bold r:id="rId13"/>
      <p:italic r:id="rId14"/>
      <p:boldItalic r:id="rId15"/>
    </p:embeddedFont>
    <p:embeddedFont>
      <p:font typeface="Platypi Medium" panose="020B0604020202020204" charset="0"/>
      <p:regular r:id="rId16"/>
    </p:embeddedFont>
    <p:embeddedFont>
      <p:font typeface="Source Serif 4"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887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3F0"/>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F9F7F7"/>
          </a:solidFill>
          <a:ln/>
        </p:spPr>
      </p:sp>
      <p:pic>
        <p:nvPicPr>
          <p:cNvPr id="3" name="Image 0" descr="preencoded.png"/>
          <p:cNvPicPr>
            <a:picLocks noChangeAspect="1"/>
          </p:cNvPicPr>
          <p:nvPr/>
        </p:nvPicPr>
        <p:blipFill>
          <a:blip r:embed="rId3"/>
          <a:stretch>
            <a:fillRect/>
          </a:stretch>
        </p:blipFill>
        <p:spPr>
          <a:xfrm>
            <a:off x="61987" y="92943"/>
            <a:ext cx="3305026" cy="4957539"/>
          </a:xfrm>
          <a:prstGeom prst="rect">
            <a:avLst/>
          </a:prstGeom>
        </p:spPr>
      </p:pic>
      <p:sp>
        <p:nvSpPr>
          <p:cNvPr id="4" name="Text 1"/>
          <p:cNvSpPr/>
          <p:nvPr/>
        </p:nvSpPr>
        <p:spPr>
          <a:xfrm>
            <a:off x="3925119" y="633338"/>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LeadFlow CRM</a:t>
            </a:r>
            <a:endParaRPr lang="en-US" sz="2400" dirty="0"/>
          </a:p>
        </p:txBody>
      </p:sp>
      <p:sp>
        <p:nvSpPr>
          <p:cNvPr id="5" name="Text 2"/>
          <p:cNvSpPr/>
          <p:nvPr/>
        </p:nvSpPr>
        <p:spPr>
          <a:xfrm>
            <a:off x="3925119" y="1206922"/>
            <a:ext cx="4722763" cy="2139553"/>
          </a:xfrm>
          <a:prstGeom prst="rect">
            <a:avLst/>
          </a:prstGeom>
          <a:noFill/>
          <a:ln/>
        </p:spPr>
        <p:txBody>
          <a:bodyPr wrap="square" lIns="0" tIns="0" rIns="0" bIns="0" rtlCol="0" anchor="t">
            <a:normAutofit/>
          </a:bodyPr>
          <a:lstStyle/>
          <a:p>
            <a:pPr marL="0" indent="0" algn="l">
              <a:lnSpc>
                <a:spcPct val="104000"/>
              </a:lnSpc>
              <a:buNone/>
            </a:pPr>
            <a:r>
              <a:rPr lang="en-US" sz="3350" dirty="0">
                <a:solidFill>
                  <a:srgbClr val="201B18"/>
                </a:solidFill>
                <a:latin typeface="Platypi Medium" pitchFamily="34" charset="0"/>
                <a:ea typeface="Platypi Medium" pitchFamily="34" charset="-122"/>
                <a:cs typeface="Platypi Medium" pitchFamily="34" charset="-120"/>
              </a:rPr>
              <a:t>Enterprise Architecture &amp; System Design Blueprint</a:t>
            </a:r>
            <a:endParaRPr lang="en-US" sz="3350" dirty="0"/>
          </a:p>
        </p:txBody>
      </p:sp>
      <p:sp>
        <p:nvSpPr>
          <p:cNvPr id="6" name="Text 3"/>
          <p:cNvSpPr/>
          <p:nvPr/>
        </p:nvSpPr>
        <p:spPr>
          <a:xfrm>
            <a:off x="3925119" y="3532510"/>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A production-grade CRM platform built for concurrency safety, role-based access control, and full audit observability  engineered from the ground up with Node.js, Express.js, PostgreSQL, and React 19.</a:t>
            </a:r>
            <a:endParaRPr lang="en-US" sz="950" dirty="0"/>
          </a:p>
        </p:txBody>
      </p:sp>
      <p:sp>
        <p:nvSpPr>
          <p:cNvPr id="7" name="Shape 4"/>
          <p:cNvSpPr/>
          <p:nvPr/>
        </p:nvSpPr>
        <p:spPr>
          <a:xfrm>
            <a:off x="3925119" y="4272186"/>
            <a:ext cx="547241" cy="233214"/>
          </a:xfrm>
          <a:prstGeom prst="roundRect">
            <a:avLst>
              <a:gd name="adj" fmla="val 6383"/>
            </a:avLst>
          </a:prstGeom>
          <a:solidFill>
            <a:srgbClr val="F3E3D8"/>
          </a:solidFill>
          <a:ln/>
        </p:spPr>
      </p:sp>
      <p:sp>
        <p:nvSpPr>
          <p:cNvPr id="8" name="Text 5"/>
          <p:cNvSpPr/>
          <p:nvPr/>
        </p:nvSpPr>
        <p:spPr>
          <a:xfrm>
            <a:off x="3999533" y="4309393"/>
            <a:ext cx="855613"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NODE.JS</a:t>
            </a:r>
            <a:endParaRPr lang="en-US" sz="750" dirty="0"/>
          </a:p>
        </p:txBody>
      </p:sp>
      <p:sp>
        <p:nvSpPr>
          <p:cNvPr id="9" name="Shape 6"/>
          <p:cNvSpPr/>
          <p:nvPr/>
        </p:nvSpPr>
        <p:spPr>
          <a:xfrm>
            <a:off x="4534346" y="4272186"/>
            <a:ext cx="696292" cy="233214"/>
          </a:xfrm>
          <a:prstGeom prst="roundRect">
            <a:avLst>
              <a:gd name="adj" fmla="val 6383"/>
            </a:avLst>
          </a:prstGeom>
          <a:solidFill>
            <a:srgbClr val="F3E3D8"/>
          </a:solidFill>
          <a:ln/>
        </p:spPr>
      </p:sp>
      <p:sp>
        <p:nvSpPr>
          <p:cNvPr id="10" name="Text 7"/>
          <p:cNvSpPr/>
          <p:nvPr/>
        </p:nvSpPr>
        <p:spPr>
          <a:xfrm>
            <a:off x="4608761" y="4309393"/>
            <a:ext cx="1004664"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EXPRESS.JS</a:t>
            </a:r>
            <a:endParaRPr lang="en-US" sz="750" dirty="0"/>
          </a:p>
        </p:txBody>
      </p:sp>
      <p:sp>
        <p:nvSpPr>
          <p:cNvPr id="11" name="Shape 8"/>
          <p:cNvSpPr/>
          <p:nvPr/>
        </p:nvSpPr>
        <p:spPr>
          <a:xfrm>
            <a:off x="5292626" y="4272186"/>
            <a:ext cx="786408" cy="233214"/>
          </a:xfrm>
          <a:prstGeom prst="roundRect">
            <a:avLst>
              <a:gd name="adj" fmla="val 6383"/>
            </a:avLst>
          </a:prstGeom>
          <a:solidFill>
            <a:srgbClr val="F3E3D8"/>
          </a:solidFill>
          <a:ln/>
        </p:spPr>
      </p:sp>
      <p:sp>
        <p:nvSpPr>
          <p:cNvPr id="12" name="Text 9"/>
          <p:cNvSpPr/>
          <p:nvPr/>
        </p:nvSpPr>
        <p:spPr>
          <a:xfrm>
            <a:off x="5367040" y="4309393"/>
            <a:ext cx="1094780"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POSTGRESQL</a:t>
            </a:r>
            <a:endParaRPr lang="en-US" sz="750" dirty="0"/>
          </a:p>
        </p:txBody>
      </p:sp>
      <p:sp>
        <p:nvSpPr>
          <p:cNvPr id="13" name="Shape 10"/>
          <p:cNvSpPr/>
          <p:nvPr/>
        </p:nvSpPr>
        <p:spPr>
          <a:xfrm>
            <a:off x="6141021" y="4272186"/>
            <a:ext cx="602307" cy="233214"/>
          </a:xfrm>
          <a:prstGeom prst="roundRect">
            <a:avLst>
              <a:gd name="adj" fmla="val 6383"/>
            </a:avLst>
          </a:prstGeom>
          <a:solidFill>
            <a:srgbClr val="F3E3D8"/>
          </a:solidFill>
          <a:ln/>
        </p:spPr>
      </p:sp>
      <p:sp>
        <p:nvSpPr>
          <p:cNvPr id="14" name="Text 11"/>
          <p:cNvSpPr/>
          <p:nvPr/>
        </p:nvSpPr>
        <p:spPr>
          <a:xfrm>
            <a:off x="6215435" y="4309393"/>
            <a:ext cx="910679"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REACT 19</a:t>
            </a:r>
            <a:endParaRPr lang="en-US" sz="750" dirty="0"/>
          </a:p>
        </p:txBody>
      </p:sp>
      <p:sp>
        <p:nvSpPr>
          <p:cNvPr id="15" name="Shape 12"/>
          <p:cNvSpPr/>
          <p:nvPr/>
        </p:nvSpPr>
        <p:spPr>
          <a:xfrm>
            <a:off x="6805315" y="4267423"/>
            <a:ext cx="1077218" cy="242739"/>
          </a:xfrm>
          <a:prstGeom prst="roundRect">
            <a:avLst>
              <a:gd name="adj" fmla="val 6132"/>
            </a:avLst>
          </a:prstGeom>
          <a:noFill/>
          <a:ln w="4763">
            <a:solidFill>
              <a:srgbClr val="3E2513"/>
            </a:solidFill>
            <a:prstDash val="solid"/>
          </a:ln>
        </p:spPr>
      </p:sp>
      <p:sp>
        <p:nvSpPr>
          <p:cNvPr id="16" name="Text 13"/>
          <p:cNvSpPr/>
          <p:nvPr/>
        </p:nvSpPr>
        <p:spPr>
          <a:xfrm>
            <a:off x="6884491" y="4309393"/>
            <a:ext cx="1376065" cy="158800"/>
          </a:xfrm>
          <a:prstGeom prst="rect">
            <a:avLst/>
          </a:prstGeom>
          <a:noFill/>
          <a:ln/>
        </p:spPr>
        <p:txBody>
          <a:bodyPr wrap="none" lIns="0" tIns="0" rIns="0" bIns="0" rtlCol="0" anchor="t"/>
          <a:lstStyle/>
          <a:p>
            <a:pPr marL="0" indent="0" algn="l">
              <a:lnSpc>
                <a:spcPct val="133000"/>
              </a:lnSpc>
              <a:buNone/>
            </a:pPr>
            <a:r>
              <a:rPr lang="en-US" sz="750" dirty="0">
                <a:solidFill>
                  <a:srgbClr val="3E2513"/>
                </a:solidFill>
                <a:latin typeface="Source Serif 4" pitchFamily="34" charset="0"/>
                <a:ea typeface="Source Serif 4" pitchFamily="34" charset="-122"/>
                <a:cs typeface="Source Serif 4" pitchFamily="34" charset="-120"/>
              </a:rPr>
              <a:t>SUPABASE POOLER</a:t>
            </a:r>
            <a:endParaRPr lang="en-US" sz="750" dirty="0"/>
          </a:p>
        </p:txBody>
      </p:sp>
      <p:sp>
        <p:nvSpPr>
          <p:cNvPr id="17" name="Rectangle 16">
            <a:extLst>
              <a:ext uri="{FF2B5EF4-FFF2-40B4-BE49-F238E27FC236}">
                <a16:creationId xmlns:a16="http://schemas.microsoft.com/office/drawing/2014/main" id="{DE6D3FFB-CB6C-F0F9-0429-FA5811EA7FCB}"/>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535632"/>
            <a:ext cx="927943" cy="233214"/>
          </a:xfrm>
          <a:prstGeom prst="roundRect">
            <a:avLst>
              <a:gd name="adj" fmla="val 6383"/>
            </a:avLst>
          </a:prstGeom>
          <a:solidFill>
            <a:srgbClr val="F3E3D8"/>
          </a:solidFill>
          <a:ln/>
        </p:spPr>
      </p:sp>
      <p:sp>
        <p:nvSpPr>
          <p:cNvPr id="3" name="Text 1"/>
          <p:cNvSpPr/>
          <p:nvPr/>
        </p:nvSpPr>
        <p:spPr>
          <a:xfrm>
            <a:off x="570533" y="572839"/>
            <a:ext cx="1236315"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ARCHITECTURE</a:t>
            </a:r>
            <a:endParaRPr lang="en-US" sz="750" dirty="0"/>
          </a:p>
        </p:txBody>
      </p:sp>
      <p:sp>
        <p:nvSpPr>
          <p:cNvPr id="4" name="Text 2"/>
          <p:cNvSpPr/>
          <p:nvPr/>
        </p:nvSpPr>
        <p:spPr>
          <a:xfrm>
            <a:off x="496119" y="818406"/>
            <a:ext cx="5394722" cy="387548"/>
          </a:xfrm>
          <a:prstGeom prst="rect">
            <a:avLst/>
          </a:prstGeom>
          <a:noFill/>
          <a:ln/>
        </p:spPr>
        <p:txBody>
          <a:bodyPr wrap="none" lIns="0" tIns="0" rIns="0" bIns="0" rtlCol="0" anchor="t"/>
          <a:lstStyle/>
          <a:p>
            <a:pPr marL="0" indent="0" algn="l">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Multi-Layer Service Architecture</a:t>
            </a:r>
            <a:endParaRPr lang="en-US" sz="2400" dirty="0"/>
          </a:p>
        </p:txBody>
      </p:sp>
      <p:sp>
        <p:nvSpPr>
          <p:cNvPr id="5" name="Text 3"/>
          <p:cNvSpPr/>
          <p:nvPr/>
        </p:nvSpPr>
        <p:spPr>
          <a:xfrm>
            <a:off x="496119" y="139198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Clean separation of concerns across the entire request-response lifecycle. Each layer has a single responsibility, making the codebase testable, maintainable, and resilient to change.</a:t>
            </a:r>
            <a:endParaRPr lang="en-US" sz="950" dirty="0"/>
          </a:p>
        </p:txBody>
      </p:sp>
      <p:sp>
        <p:nvSpPr>
          <p:cNvPr id="6" name="Shape 4"/>
          <p:cNvSpPr/>
          <p:nvPr/>
        </p:nvSpPr>
        <p:spPr>
          <a:xfrm>
            <a:off x="496119" y="3367385"/>
            <a:ext cx="8151763" cy="14288"/>
          </a:xfrm>
          <a:prstGeom prst="roundRect">
            <a:avLst>
              <a:gd name="adj" fmla="val 130228"/>
            </a:avLst>
          </a:prstGeom>
          <a:solidFill>
            <a:srgbClr val="D8D4D4"/>
          </a:solidFill>
          <a:ln/>
        </p:spPr>
      </p:sp>
      <p:sp>
        <p:nvSpPr>
          <p:cNvPr id="7" name="Shape 5"/>
          <p:cNvSpPr/>
          <p:nvPr/>
        </p:nvSpPr>
        <p:spPr>
          <a:xfrm>
            <a:off x="2072804" y="3119363"/>
            <a:ext cx="14288" cy="248022"/>
          </a:xfrm>
          <a:prstGeom prst="roundRect">
            <a:avLst>
              <a:gd name="adj" fmla="val 130228"/>
            </a:avLst>
          </a:prstGeom>
          <a:solidFill>
            <a:srgbClr val="D8D4D4"/>
          </a:solidFill>
          <a:ln/>
        </p:spPr>
      </p:sp>
      <p:sp>
        <p:nvSpPr>
          <p:cNvPr id="8" name="Shape 6"/>
          <p:cNvSpPr/>
          <p:nvPr/>
        </p:nvSpPr>
        <p:spPr>
          <a:xfrm>
            <a:off x="2033439" y="3320876"/>
            <a:ext cx="93018" cy="93018"/>
          </a:xfrm>
          <a:prstGeom prst="roundRect">
            <a:avLst>
              <a:gd name="adj" fmla="val 307199"/>
            </a:avLst>
          </a:prstGeom>
          <a:solidFill>
            <a:srgbClr val="3E2513"/>
          </a:solidFill>
          <a:ln/>
        </p:spPr>
      </p:sp>
      <p:sp>
        <p:nvSpPr>
          <p:cNvPr id="9" name="Text 7"/>
          <p:cNvSpPr/>
          <p:nvPr/>
        </p:nvSpPr>
        <p:spPr>
          <a:xfrm>
            <a:off x="1304627" y="1928440"/>
            <a:ext cx="1550566" cy="193849"/>
          </a:xfrm>
          <a:prstGeom prst="rect">
            <a:avLst/>
          </a:prstGeom>
          <a:noFill/>
          <a:ln/>
        </p:spPr>
        <p:txBody>
          <a:bodyPr wrap="none" lIns="0" tIns="0" rIns="0" bIns="0" rtlCol="0" anchor="t"/>
          <a:lstStyle/>
          <a:p>
            <a:pPr marL="0" indent="0" algn="ctr">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Routing Layer</a:t>
            </a:r>
            <a:endParaRPr lang="en-US" sz="1200" dirty="0"/>
          </a:p>
        </p:txBody>
      </p:sp>
      <p:sp>
        <p:nvSpPr>
          <p:cNvPr id="10" name="Text 8"/>
          <p:cNvSpPr/>
          <p:nvPr/>
        </p:nvSpPr>
        <p:spPr>
          <a:xfrm>
            <a:off x="620092" y="2196703"/>
            <a:ext cx="2919710" cy="798612"/>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*.routes.js</a:t>
            </a:r>
            <a:r>
              <a:rPr lang="en-US" sz="950" dirty="0">
                <a:solidFill>
                  <a:srgbClr val="504C49"/>
                </a:solidFill>
                <a:latin typeface="Source Serif 4" pitchFamily="34" charset="0"/>
                <a:ea typeface="Source Serif 4" pitchFamily="34" charset="-122"/>
                <a:cs typeface="Source Serif 4" pitchFamily="34" charset="-120"/>
              </a:rPr>
              <a:t> files expose REST endpoints, register parameter validation chains, and apply authentication guards before any business logic executes.</a:t>
            </a:r>
            <a:endParaRPr lang="en-US" sz="950" dirty="0"/>
          </a:p>
        </p:txBody>
      </p:sp>
      <p:sp>
        <p:nvSpPr>
          <p:cNvPr id="11" name="Shape 9"/>
          <p:cNvSpPr/>
          <p:nvPr/>
        </p:nvSpPr>
        <p:spPr>
          <a:xfrm>
            <a:off x="3734098" y="3367385"/>
            <a:ext cx="14288" cy="248022"/>
          </a:xfrm>
          <a:prstGeom prst="roundRect">
            <a:avLst>
              <a:gd name="adj" fmla="val 130228"/>
            </a:avLst>
          </a:prstGeom>
          <a:solidFill>
            <a:srgbClr val="D8D4D4"/>
          </a:solidFill>
          <a:ln/>
        </p:spPr>
      </p:sp>
      <p:sp>
        <p:nvSpPr>
          <p:cNvPr id="12" name="Shape 10"/>
          <p:cNvSpPr/>
          <p:nvPr/>
        </p:nvSpPr>
        <p:spPr>
          <a:xfrm>
            <a:off x="3694733" y="3320876"/>
            <a:ext cx="93018" cy="93018"/>
          </a:xfrm>
          <a:prstGeom prst="roundRect">
            <a:avLst>
              <a:gd name="adj" fmla="val 307199"/>
            </a:avLst>
          </a:prstGeom>
          <a:solidFill>
            <a:srgbClr val="3E2513"/>
          </a:solidFill>
          <a:ln/>
        </p:spPr>
      </p:sp>
      <p:sp>
        <p:nvSpPr>
          <p:cNvPr id="13" name="Text 11"/>
          <p:cNvSpPr/>
          <p:nvPr/>
        </p:nvSpPr>
        <p:spPr>
          <a:xfrm>
            <a:off x="2965996" y="3739455"/>
            <a:ext cx="1550566" cy="193849"/>
          </a:xfrm>
          <a:prstGeom prst="rect">
            <a:avLst/>
          </a:prstGeom>
          <a:noFill/>
          <a:ln/>
        </p:spPr>
        <p:txBody>
          <a:bodyPr wrap="none" lIns="0" tIns="0" rIns="0" bIns="0" rtlCol="0" anchor="t"/>
          <a:lstStyle/>
          <a:p>
            <a:pPr marL="0" indent="0" algn="ctr">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Controller Layer</a:t>
            </a:r>
            <a:endParaRPr lang="en-US" sz="1200" dirty="0"/>
          </a:p>
        </p:txBody>
      </p:sp>
      <p:sp>
        <p:nvSpPr>
          <p:cNvPr id="14" name="Text 12"/>
          <p:cNvSpPr/>
          <p:nvPr/>
        </p:nvSpPr>
        <p:spPr>
          <a:xfrm>
            <a:off x="2281386" y="4007718"/>
            <a:ext cx="2919785" cy="600149"/>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*.controller.js</a:t>
            </a:r>
            <a:r>
              <a:rPr lang="en-US" sz="950" dirty="0">
                <a:solidFill>
                  <a:srgbClr val="504C49"/>
                </a:solidFill>
                <a:latin typeface="Source Serif 4" pitchFamily="34" charset="0"/>
                <a:ea typeface="Source Serif 4" pitchFamily="34" charset="-122"/>
                <a:cs typeface="Source Serif 4" pitchFamily="34" charset="-120"/>
              </a:rPr>
              <a:t> decouples HTTP concerns (params, query, body) from service execution, translating raw requests into typed service calls.</a:t>
            </a:r>
            <a:endParaRPr lang="en-US" sz="950" dirty="0"/>
          </a:p>
        </p:txBody>
      </p:sp>
      <p:sp>
        <p:nvSpPr>
          <p:cNvPr id="15" name="Shape 13"/>
          <p:cNvSpPr/>
          <p:nvPr/>
        </p:nvSpPr>
        <p:spPr>
          <a:xfrm>
            <a:off x="5395466" y="3119363"/>
            <a:ext cx="14288" cy="248022"/>
          </a:xfrm>
          <a:prstGeom prst="roundRect">
            <a:avLst>
              <a:gd name="adj" fmla="val 130228"/>
            </a:avLst>
          </a:prstGeom>
          <a:solidFill>
            <a:srgbClr val="D8D4D4"/>
          </a:solidFill>
          <a:ln/>
        </p:spPr>
      </p:sp>
      <p:sp>
        <p:nvSpPr>
          <p:cNvPr id="16" name="Shape 14"/>
          <p:cNvSpPr/>
          <p:nvPr/>
        </p:nvSpPr>
        <p:spPr>
          <a:xfrm>
            <a:off x="5356101" y="3320876"/>
            <a:ext cx="93018" cy="93018"/>
          </a:xfrm>
          <a:prstGeom prst="roundRect">
            <a:avLst>
              <a:gd name="adj" fmla="val 307199"/>
            </a:avLst>
          </a:prstGeom>
          <a:solidFill>
            <a:srgbClr val="3E2513"/>
          </a:solidFill>
          <a:ln/>
        </p:spPr>
      </p:sp>
      <p:sp>
        <p:nvSpPr>
          <p:cNvPr id="17" name="Text 15"/>
          <p:cNvSpPr/>
          <p:nvPr/>
        </p:nvSpPr>
        <p:spPr>
          <a:xfrm>
            <a:off x="4627364" y="1928440"/>
            <a:ext cx="1550566" cy="193849"/>
          </a:xfrm>
          <a:prstGeom prst="rect">
            <a:avLst/>
          </a:prstGeom>
          <a:noFill/>
          <a:ln/>
        </p:spPr>
        <p:txBody>
          <a:bodyPr wrap="none" lIns="0" tIns="0" rIns="0" bIns="0" rtlCol="0" anchor="t"/>
          <a:lstStyle/>
          <a:p>
            <a:pPr marL="0" indent="0" algn="ctr">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Service Layer</a:t>
            </a:r>
            <a:endParaRPr lang="en-US" sz="1200" dirty="0"/>
          </a:p>
        </p:txBody>
      </p:sp>
      <p:sp>
        <p:nvSpPr>
          <p:cNvPr id="18" name="Text 16"/>
          <p:cNvSpPr/>
          <p:nvPr/>
        </p:nvSpPr>
        <p:spPr>
          <a:xfrm>
            <a:off x="3942755" y="2196703"/>
            <a:ext cx="2919785" cy="600149"/>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*.service.js</a:t>
            </a:r>
            <a:r>
              <a:rPr lang="en-US" sz="950" dirty="0">
                <a:solidFill>
                  <a:srgbClr val="504C49"/>
                </a:solidFill>
                <a:latin typeface="Source Serif 4" pitchFamily="34" charset="0"/>
                <a:ea typeface="Source Serif 4" pitchFamily="34" charset="-122"/>
                <a:cs typeface="Source Serif 4" pitchFamily="34" charset="-120"/>
              </a:rPr>
              <a:t> houses core business rules, database transaction blocks, and triggers background logging and notification tasks.</a:t>
            </a:r>
            <a:endParaRPr lang="en-US" sz="950" dirty="0"/>
          </a:p>
        </p:txBody>
      </p:sp>
      <p:sp>
        <p:nvSpPr>
          <p:cNvPr id="19" name="Shape 17"/>
          <p:cNvSpPr/>
          <p:nvPr/>
        </p:nvSpPr>
        <p:spPr>
          <a:xfrm>
            <a:off x="7056834" y="3367385"/>
            <a:ext cx="14288" cy="248022"/>
          </a:xfrm>
          <a:prstGeom prst="roundRect">
            <a:avLst>
              <a:gd name="adj" fmla="val 130228"/>
            </a:avLst>
          </a:prstGeom>
          <a:solidFill>
            <a:srgbClr val="D8D4D4"/>
          </a:solidFill>
          <a:ln/>
        </p:spPr>
      </p:sp>
      <p:sp>
        <p:nvSpPr>
          <p:cNvPr id="20" name="Shape 18"/>
          <p:cNvSpPr/>
          <p:nvPr/>
        </p:nvSpPr>
        <p:spPr>
          <a:xfrm>
            <a:off x="7017469" y="3320876"/>
            <a:ext cx="93018" cy="93018"/>
          </a:xfrm>
          <a:prstGeom prst="roundRect">
            <a:avLst>
              <a:gd name="adj" fmla="val 307199"/>
            </a:avLst>
          </a:prstGeom>
          <a:solidFill>
            <a:srgbClr val="3E2513"/>
          </a:solidFill>
          <a:ln/>
        </p:spPr>
      </p:sp>
      <p:sp>
        <p:nvSpPr>
          <p:cNvPr id="21" name="Text 19"/>
          <p:cNvSpPr/>
          <p:nvPr/>
        </p:nvSpPr>
        <p:spPr>
          <a:xfrm>
            <a:off x="6288732" y="3739455"/>
            <a:ext cx="1550566" cy="193849"/>
          </a:xfrm>
          <a:prstGeom prst="rect">
            <a:avLst/>
          </a:prstGeom>
          <a:noFill/>
          <a:ln/>
        </p:spPr>
        <p:txBody>
          <a:bodyPr wrap="none" lIns="0" tIns="0" rIns="0" bIns="0" rtlCol="0" anchor="t"/>
          <a:lstStyle/>
          <a:p>
            <a:pPr marL="0" indent="0" algn="ctr">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Database Layer</a:t>
            </a:r>
            <a:endParaRPr lang="en-US" sz="1200" dirty="0"/>
          </a:p>
        </p:txBody>
      </p:sp>
      <p:sp>
        <p:nvSpPr>
          <p:cNvPr id="22" name="Text 20"/>
          <p:cNvSpPr/>
          <p:nvPr/>
        </p:nvSpPr>
        <p:spPr>
          <a:xfrm>
            <a:off x="5604123" y="4007718"/>
            <a:ext cx="2919785" cy="600149"/>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config/db.js</a:t>
            </a:r>
            <a:r>
              <a:rPr lang="en-US" sz="950" dirty="0">
                <a:solidFill>
                  <a:srgbClr val="504C49"/>
                </a:solidFill>
                <a:latin typeface="Source Serif 4" pitchFamily="34" charset="0"/>
                <a:ea typeface="Source Serif 4" pitchFamily="34" charset="-122"/>
                <a:cs typeface="Source Serif 4" pitchFamily="34" charset="-120"/>
              </a:rPr>
              <a:t> manages connections via </a:t>
            </a:r>
            <a:r>
              <a:rPr lang="en-US" sz="950" dirty="0">
                <a:solidFill>
                  <a:srgbClr val="504C49"/>
                </a:solidFill>
                <a:highlight>
                  <a:srgbClr val="F2F2F2"/>
                </a:highlight>
                <a:latin typeface="Consolas" pitchFamily="34" charset="0"/>
                <a:ea typeface="Consolas" pitchFamily="34" charset="-122"/>
                <a:cs typeface="Consolas" pitchFamily="34" charset="-120"/>
              </a:rPr>
              <a:t>pg.Pool</a:t>
            </a:r>
            <a:r>
              <a:rPr lang="en-US" sz="950" dirty="0">
                <a:solidFill>
                  <a:srgbClr val="504C49"/>
                </a:solidFill>
                <a:latin typeface="Source Serif 4" pitchFamily="34" charset="0"/>
                <a:ea typeface="Source Serif 4" pitchFamily="34" charset="-122"/>
                <a:cs typeface="Source Serif 4" pitchFamily="34" charset="-120"/>
              </a:rPr>
              <a:t>, enabling efficient concurrent connection handling through Supabase Postgres Pooler.</a:t>
            </a:r>
            <a:endParaRPr lang="en-US" sz="950" dirty="0"/>
          </a:p>
        </p:txBody>
      </p:sp>
      <p:sp>
        <p:nvSpPr>
          <p:cNvPr id="23" name="Rectangle 22">
            <a:extLst>
              <a:ext uri="{FF2B5EF4-FFF2-40B4-BE49-F238E27FC236}">
                <a16:creationId xmlns:a16="http://schemas.microsoft.com/office/drawing/2014/main" id="{8AF2796B-1A84-E933-F10F-40840D5006E5}"/>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831800"/>
            <a:ext cx="668164" cy="233214"/>
          </a:xfrm>
          <a:prstGeom prst="roundRect">
            <a:avLst>
              <a:gd name="adj" fmla="val 6383"/>
            </a:avLst>
          </a:prstGeom>
          <a:solidFill>
            <a:srgbClr val="F3E3D8"/>
          </a:solidFill>
          <a:ln/>
        </p:spPr>
      </p:sp>
      <p:sp>
        <p:nvSpPr>
          <p:cNvPr id="3" name="Text 1"/>
          <p:cNvSpPr/>
          <p:nvPr/>
        </p:nvSpPr>
        <p:spPr>
          <a:xfrm>
            <a:off x="570533" y="869007"/>
            <a:ext cx="976536"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CODEBASE</a:t>
            </a:r>
            <a:endParaRPr lang="en-US" sz="750" dirty="0"/>
          </a:p>
        </p:txBody>
      </p:sp>
      <p:sp>
        <p:nvSpPr>
          <p:cNvPr id="4" name="Text 2"/>
          <p:cNvSpPr/>
          <p:nvPr/>
        </p:nvSpPr>
        <p:spPr>
          <a:xfrm>
            <a:off x="496119" y="1114574"/>
            <a:ext cx="5659487" cy="387548"/>
          </a:xfrm>
          <a:prstGeom prst="rect">
            <a:avLst/>
          </a:prstGeom>
          <a:noFill/>
          <a:ln/>
        </p:spPr>
        <p:txBody>
          <a:bodyPr wrap="none" lIns="0" tIns="0" rIns="0" bIns="0" rtlCol="0" anchor="t"/>
          <a:lstStyle/>
          <a:p>
            <a:pPr marL="0" indent="0" algn="l">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Codebase Layout &amp; Directory Tree</a:t>
            </a:r>
            <a:endParaRPr lang="en-US" sz="2400" dirty="0"/>
          </a:p>
        </p:txBody>
      </p:sp>
      <p:sp>
        <p:nvSpPr>
          <p:cNvPr id="5" name="Text 3"/>
          <p:cNvSpPr/>
          <p:nvPr/>
        </p:nvSpPr>
        <p:spPr>
          <a:xfrm>
            <a:off x="496119" y="168815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A modular, domain-driven structure with dedicated feature spaces. Each module is self-contained, grouping routes, controllers, and services by business capability.</a:t>
            </a:r>
            <a:endParaRPr lang="en-US" sz="950" dirty="0"/>
          </a:p>
        </p:txBody>
      </p:sp>
      <p:sp>
        <p:nvSpPr>
          <p:cNvPr id="6" name="Shape 4"/>
          <p:cNvSpPr/>
          <p:nvPr/>
        </p:nvSpPr>
        <p:spPr>
          <a:xfrm>
            <a:off x="406822" y="2224608"/>
            <a:ext cx="3680445" cy="2087091"/>
          </a:xfrm>
          <a:prstGeom prst="roundRect">
            <a:avLst>
              <a:gd name="adj" fmla="val 892"/>
            </a:avLst>
          </a:prstGeom>
          <a:solidFill>
            <a:srgbClr val="FFFFFF"/>
          </a:solidFill>
          <a:ln/>
        </p:spPr>
      </p:sp>
      <p:sp>
        <p:nvSpPr>
          <p:cNvPr id="7" name="Text 5"/>
          <p:cNvSpPr/>
          <p:nvPr/>
        </p:nvSpPr>
        <p:spPr>
          <a:xfrm>
            <a:off x="530796" y="2348582"/>
            <a:ext cx="2073473"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Global Infrastructure</a:t>
            </a:r>
            <a:endParaRPr lang="en-US" sz="1200" dirty="0"/>
          </a:p>
        </p:txBody>
      </p:sp>
      <p:sp>
        <p:nvSpPr>
          <p:cNvPr id="8" name="Text 6"/>
          <p:cNvSpPr/>
          <p:nvPr/>
        </p:nvSpPr>
        <p:spPr>
          <a:xfrm>
            <a:off x="530796" y="2666405"/>
            <a:ext cx="3432497"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Shared configuration and middleware live outside domain modules, ensuring a single source of truth for cross-cutting concerns.</a:t>
            </a:r>
            <a:endParaRPr lang="en-US" sz="950" dirty="0"/>
          </a:p>
        </p:txBody>
      </p:sp>
      <p:sp>
        <p:nvSpPr>
          <p:cNvPr id="9" name="Text 7"/>
          <p:cNvSpPr/>
          <p:nvPr/>
        </p:nvSpPr>
        <p:spPr>
          <a:xfrm>
            <a:off x="530796" y="3373413"/>
            <a:ext cx="3432497" cy="89490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504C49"/>
                </a:solidFill>
                <a:highlight>
                  <a:srgbClr val="F2F2F2"/>
                </a:highlight>
                <a:latin typeface="Consolas" pitchFamily="34" charset="0"/>
                <a:ea typeface="Consolas" pitchFamily="34" charset="-122"/>
                <a:cs typeface="Consolas" pitchFamily="34" charset="-120"/>
              </a:rPr>
              <a:t>src/config/</a:t>
            </a:r>
            <a:r>
              <a:rPr lang="en-US" sz="950" dirty="0">
                <a:solidFill>
                  <a:srgbClr val="504C49"/>
                </a:solidFill>
                <a:latin typeface="Source Serif 4" pitchFamily="34" charset="0"/>
                <a:ea typeface="Source Serif 4" pitchFamily="34" charset="-122"/>
                <a:cs typeface="Source Serif 4" pitchFamily="34" charset="-120"/>
              </a:rPr>
              <a:t> — db.js, mailer.js, swagger.js</a:t>
            </a:r>
            <a:endParaRPr lang="en-US" sz="950" dirty="0"/>
          </a:p>
          <a:p>
            <a:pPr marL="342900" indent="-342900" algn="l">
              <a:lnSpc>
                <a:spcPct val="133000"/>
              </a:lnSpc>
              <a:buSzPct val="100000"/>
              <a:buChar char="•"/>
            </a:pPr>
            <a:r>
              <a:rPr lang="en-US" sz="950" dirty="0">
                <a:solidFill>
                  <a:srgbClr val="504C49"/>
                </a:solidFill>
                <a:highlight>
                  <a:srgbClr val="F2F2F2"/>
                </a:highlight>
                <a:latin typeface="Consolas" pitchFamily="34" charset="0"/>
                <a:ea typeface="Consolas" pitchFamily="34" charset="-122"/>
                <a:cs typeface="Consolas" pitchFamily="34" charset="-120"/>
              </a:rPr>
              <a:t>src/middleware/</a:t>
            </a:r>
            <a:r>
              <a:rPr lang="en-US" sz="950" dirty="0">
                <a:solidFill>
                  <a:srgbClr val="504C49"/>
                </a:solidFill>
                <a:latin typeface="Source Serif 4" pitchFamily="34" charset="0"/>
                <a:ea typeface="Source Serif 4" pitchFamily="34" charset="-122"/>
                <a:cs typeface="Source Serif 4" pitchFamily="34" charset="-120"/>
              </a:rPr>
              <a:t> — auth.js, roleCheck.js, rateLimiter.js, auditLogger.js</a:t>
            </a:r>
            <a:endParaRPr lang="en-US" sz="950" dirty="0"/>
          </a:p>
          <a:p>
            <a:pPr marL="342900" indent="-342900" algn="l">
              <a:lnSpc>
                <a:spcPct val="133000"/>
              </a:lnSpc>
              <a:buSzPct val="100000"/>
              <a:buChar char="•"/>
            </a:pPr>
            <a:r>
              <a:rPr lang="en-US" sz="950" dirty="0">
                <a:solidFill>
                  <a:srgbClr val="504C49"/>
                </a:solidFill>
                <a:highlight>
                  <a:srgbClr val="F2F2F2"/>
                </a:highlight>
                <a:latin typeface="Consolas" pitchFamily="34" charset="0"/>
                <a:ea typeface="Consolas" pitchFamily="34" charset="-122"/>
                <a:cs typeface="Consolas" pitchFamily="34" charset="-120"/>
              </a:rPr>
              <a:t>src/utils/</a:t>
            </a:r>
            <a:r>
              <a:rPr lang="en-US" sz="950" dirty="0">
                <a:solidFill>
                  <a:srgbClr val="504C49"/>
                </a:solidFill>
                <a:latin typeface="Source Serif 4" pitchFamily="34" charset="0"/>
                <a:ea typeface="Source Serif 4" pitchFamily="34" charset="-122"/>
                <a:cs typeface="Source Serif 4" pitchFamily="34" charset="-120"/>
              </a:rPr>
              <a:t> — emailService.js</a:t>
            </a:r>
            <a:endParaRPr lang="en-US" sz="950" dirty="0"/>
          </a:p>
        </p:txBody>
      </p:sp>
      <p:sp>
        <p:nvSpPr>
          <p:cNvPr id="10" name="Text 8"/>
          <p:cNvSpPr/>
          <p:nvPr/>
        </p:nvSpPr>
        <p:spPr>
          <a:xfrm>
            <a:off x="4305300" y="2348582"/>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Domain Modules</a:t>
            </a:r>
            <a:endParaRPr lang="en-US" sz="1200" dirty="0"/>
          </a:p>
        </p:txBody>
      </p:sp>
      <p:sp>
        <p:nvSpPr>
          <p:cNvPr id="11" name="Text 9"/>
          <p:cNvSpPr/>
          <p:nvPr/>
        </p:nvSpPr>
        <p:spPr>
          <a:xfrm>
            <a:off x="4305300" y="2666405"/>
            <a:ext cx="4347270"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Feature modules inside </a:t>
            </a:r>
            <a:r>
              <a:rPr lang="en-US" sz="950" dirty="0">
                <a:solidFill>
                  <a:srgbClr val="504C49"/>
                </a:solidFill>
                <a:highlight>
                  <a:srgbClr val="F2F2F2"/>
                </a:highlight>
                <a:latin typeface="Consolas" pitchFamily="34" charset="0"/>
                <a:ea typeface="Consolas" pitchFamily="34" charset="-122"/>
                <a:cs typeface="Consolas" pitchFamily="34" charset="-120"/>
              </a:rPr>
              <a:t>src/modules/</a:t>
            </a:r>
            <a:r>
              <a:rPr lang="en-US" sz="950" dirty="0">
                <a:solidFill>
                  <a:srgbClr val="504C49"/>
                </a:solidFill>
                <a:latin typeface="Source Serif 4" pitchFamily="34" charset="0"/>
                <a:ea typeface="Source Serif 4" pitchFamily="34" charset="-122"/>
                <a:cs typeface="Source Serif 4" pitchFamily="34" charset="-120"/>
              </a:rPr>
              <a:t> follow a consistent triad pattern — routes, controller, and service — keeping each domain isolated and independently testable.</a:t>
            </a:r>
            <a:endParaRPr lang="en-US" sz="950" dirty="0"/>
          </a:p>
        </p:txBody>
      </p:sp>
      <p:sp>
        <p:nvSpPr>
          <p:cNvPr id="12" name="Text 10"/>
          <p:cNvSpPr/>
          <p:nvPr/>
        </p:nvSpPr>
        <p:spPr>
          <a:xfrm>
            <a:off x="4305300" y="3378175"/>
            <a:ext cx="4347270" cy="696441"/>
          </a:xfrm>
          <a:prstGeom prst="rect">
            <a:avLst/>
          </a:prstGeom>
          <a:noFill/>
          <a:ln/>
        </p:spPr>
        <p:txBody>
          <a:bodyPr wrap="square" lIns="0" tIns="0" rIns="0" bIns="0" rtlCol="0" anchor="t">
            <a:normAutofit fontScale="92500"/>
          </a:bodyPr>
          <a:lstStyle/>
          <a:p>
            <a:pPr marL="342900" indent="-342900" algn="l">
              <a:lnSpc>
                <a:spcPct val="133000"/>
              </a:lnSpc>
              <a:buSzPct val="100000"/>
              <a:buChar char="•"/>
            </a:pPr>
            <a:r>
              <a:rPr lang="en-US" sz="950" dirty="0">
                <a:solidFill>
                  <a:srgbClr val="504C49"/>
                </a:solidFill>
                <a:highlight>
                  <a:srgbClr val="F2F2F2"/>
                </a:highlight>
                <a:latin typeface="Consolas" pitchFamily="34" charset="0"/>
                <a:ea typeface="Consolas" pitchFamily="34" charset="-122"/>
                <a:cs typeface="Consolas" pitchFamily="34" charset="-120"/>
              </a:rPr>
              <a:t>auth/</a:t>
            </a:r>
            <a:r>
              <a:rPr lang="en-US" sz="950" dirty="0">
                <a:solidFill>
                  <a:srgbClr val="504C49"/>
                </a:solidFill>
                <a:latin typeface="Source Serif 4" pitchFamily="34" charset="0"/>
                <a:ea typeface="Source Serif 4" pitchFamily="34" charset="-122"/>
                <a:cs typeface="Source Serif 4" pitchFamily="34" charset="-120"/>
              </a:rPr>
              <a:t> — auth.routes.js, auth.controller.js, auth.service.js</a:t>
            </a:r>
            <a:endParaRPr lang="en-US" sz="950" dirty="0"/>
          </a:p>
          <a:p>
            <a:pPr marL="342900" indent="-342900" algn="l">
              <a:lnSpc>
                <a:spcPct val="133000"/>
              </a:lnSpc>
              <a:buSzPct val="100000"/>
              <a:buChar char="•"/>
            </a:pPr>
            <a:r>
              <a:rPr lang="en-US" sz="950" dirty="0">
                <a:solidFill>
                  <a:srgbClr val="504C49"/>
                </a:solidFill>
                <a:highlight>
                  <a:srgbClr val="F2F2F2"/>
                </a:highlight>
                <a:latin typeface="Consolas" pitchFamily="34" charset="0"/>
                <a:ea typeface="Consolas" pitchFamily="34" charset="-122"/>
                <a:cs typeface="Consolas" pitchFamily="34" charset="-120"/>
              </a:rPr>
              <a:t>leads/</a:t>
            </a:r>
            <a:r>
              <a:rPr lang="en-US" sz="950" dirty="0">
                <a:solidFill>
                  <a:srgbClr val="504C49"/>
                </a:solidFill>
                <a:latin typeface="Source Serif 4" pitchFamily="34" charset="0"/>
                <a:ea typeface="Source Serif 4" pitchFamily="34" charset="-122"/>
                <a:cs typeface="Source Serif 4" pitchFamily="34" charset="-120"/>
              </a:rPr>
              <a:t> — leads.routes.js, leads.controller.js, leads.service.js</a:t>
            </a:r>
            <a:endParaRPr lang="en-US" sz="950" dirty="0"/>
          </a:p>
          <a:p>
            <a:pPr marL="342900" indent="-342900" algn="l">
              <a:lnSpc>
                <a:spcPct val="133000"/>
              </a:lnSpc>
              <a:buSzPct val="100000"/>
              <a:buChar char="•"/>
            </a:pPr>
            <a:r>
              <a:rPr lang="en-US" sz="950" dirty="0">
                <a:solidFill>
                  <a:srgbClr val="504C49"/>
                </a:solidFill>
                <a:highlight>
                  <a:srgbClr val="F2F2F2"/>
                </a:highlight>
                <a:latin typeface="Consolas" pitchFamily="34" charset="0"/>
                <a:ea typeface="Consolas" pitchFamily="34" charset="-122"/>
                <a:cs typeface="Consolas" pitchFamily="34" charset="-120"/>
              </a:rPr>
              <a:t>activity/</a:t>
            </a:r>
            <a:r>
              <a:rPr lang="en-US" sz="950" dirty="0">
                <a:solidFill>
                  <a:srgbClr val="504C49"/>
                </a:solidFill>
                <a:latin typeface="Source Serif 4" pitchFamily="34" charset="0"/>
                <a:ea typeface="Source Serif 4" pitchFamily="34" charset="-122"/>
                <a:cs typeface="Source Serif 4" pitchFamily="34" charset="-120"/>
              </a:rPr>
              <a:t> — activity.routes.js, activity.controller.js, activity.service.js</a:t>
            </a:r>
            <a:endParaRPr lang="en-US" sz="950" dirty="0"/>
          </a:p>
        </p:txBody>
      </p:sp>
      <p:sp>
        <p:nvSpPr>
          <p:cNvPr id="13" name="Rectangle 12">
            <a:extLst>
              <a:ext uri="{FF2B5EF4-FFF2-40B4-BE49-F238E27FC236}">
                <a16:creationId xmlns:a16="http://schemas.microsoft.com/office/drawing/2014/main" id="{0F554411-1F26-4E92-B206-901A8F07012A}"/>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429000" cy="5145212"/>
          </a:xfrm>
          <a:prstGeom prst="rect">
            <a:avLst/>
          </a:prstGeom>
          <a:solidFill>
            <a:srgbClr val="F9F7F7"/>
          </a:solidFill>
          <a:ln/>
        </p:spPr>
      </p:sp>
      <p:pic>
        <p:nvPicPr>
          <p:cNvPr id="3" name="Image 0" descr="preencoded.png"/>
          <p:cNvPicPr>
            <a:picLocks noChangeAspect="1"/>
          </p:cNvPicPr>
          <p:nvPr/>
        </p:nvPicPr>
        <p:blipFill>
          <a:blip r:embed="rId3"/>
          <a:stretch>
            <a:fillRect/>
          </a:stretch>
        </p:blipFill>
        <p:spPr>
          <a:xfrm>
            <a:off x="51346" y="77837"/>
            <a:ext cx="3326309" cy="4989463"/>
          </a:xfrm>
          <a:prstGeom prst="rect">
            <a:avLst/>
          </a:prstGeom>
        </p:spPr>
      </p:pic>
      <p:sp>
        <p:nvSpPr>
          <p:cNvPr id="4" name="Shape 1"/>
          <p:cNvSpPr/>
          <p:nvPr/>
        </p:nvSpPr>
        <p:spPr>
          <a:xfrm>
            <a:off x="3925119" y="341114"/>
            <a:ext cx="528414" cy="181719"/>
          </a:xfrm>
          <a:prstGeom prst="roundRect">
            <a:avLst>
              <a:gd name="adj" fmla="val 6784"/>
            </a:avLst>
          </a:prstGeom>
          <a:solidFill>
            <a:srgbClr val="F3E3D8"/>
          </a:solidFill>
          <a:ln/>
        </p:spPr>
      </p:sp>
      <p:sp>
        <p:nvSpPr>
          <p:cNvPr id="5" name="Text 2"/>
          <p:cNvSpPr/>
          <p:nvPr/>
        </p:nvSpPr>
        <p:spPr>
          <a:xfrm>
            <a:off x="3986733" y="371921"/>
            <a:ext cx="862385" cy="120104"/>
          </a:xfrm>
          <a:prstGeom prst="rect">
            <a:avLst/>
          </a:prstGeom>
          <a:noFill/>
          <a:ln/>
        </p:spPr>
        <p:txBody>
          <a:bodyPr wrap="none" lIns="0" tIns="0" rIns="0" bIns="0" rtlCol="0" anchor="t"/>
          <a:lstStyle/>
          <a:p>
            <a:pPr marL="0" indent="0" algn="l">
              <a:lnSpc>
                <a:spcPct val="122000"/>
              </a:lnSpc>
              <a:buNone/>
            </a:pPr>
            <a:r>
              <a:rPr lang="en-US" sz="600" dirty="0">
                <a:solidFill>
                  <a:srgbClr val="504C49"/>
                </a:solidFill>
                <a:latin typeface="Source Serif 4" pitchFamily="34" charset="0"/>
                <a:ea typeface="Source Serif 4" pitchFamily="34" charset="-122"/>
                <a:cs typeface="Source Serif 4" pitchFamily="34" charset="-120"/>
              </a:rPr>
              <a:t>SECURITY</a:t>
            </a:r>
            <a:endParaRPr lang="en-US" sz="600" dirty="0"/>
          </a:p>
        </p:txBody>
      </p:sp>
      <p:sp>
        <p:nvSpPr>
          <p:cNvPr id="6" name="Text 3"/>
          <p:cNvSpPr/>
          <p:nvPr/>
        </p:nvSpPr>
        <p:spPr>
          <a:xfrm>
            <a:off x="3925119" y="556840"/>
            <a:ext cx="4456509" cy="320948"/>
          </a:xfrm>
          <a:prstGeom prst="rect">
            <a:avLst/>
          </a:prstGeom>
          <a:noFill/>
          <a:ln/>
        </p:spPr>
        <p:txBody>
          <a:bodyPr wrap="none" lIns="0" tIns="0" rIns="0" bIns="0" rtlCol="0" anchor="t"/>
          <a:lstStyle/>
          <a:p>
            <a:pPr marL="0" indent="0" algn="l">
              <a:lnSpc>
                <a:spcPct val="104000"/>
              </a:lnSpc>
              <a:buNone/>
            </a:pPr>
            <a:r>
              <a:rPr lang="en-US" sz="2000" dirty="0">
                <a:solidFill>
                  <a:srgbClr val="201B18"/>
                </a:solidFill>
                <a:latin typeface="Platypi Medium" pitchFamily="34" charset="0"/>
                <a:ea typeface="Platypi Medium" pitchFamily="34" charset="-122"/>
                <a:cs typeface="Platypi Medium" pitchFamily="34" charset="-120"/>
              </a:rPr>
              <a:t>Stateless JWT Session Security</a:t>
            </a:r>
            <a:endParaRPr lang="en-US" sz="2000" dirty="0"/>
          </a:p>
        </p:txBody>
      </p:sp>
      <p:sp>
        <p:nvSpPr>
          <p:cNvPr id="7" name="Text 4"/>
          <p:cNvSpPr/>
          <p:nvPr/>
        </p:nvSpPr>
        <p:spPr>
          <a:xfrm>
            <a:off x="3925119" y="1005334"/>
            <a:ext cx="4722763"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Encrypted session handshakes and dynamic role gates protect every endpoint without server-side session storage, enabling horizontal scalability.</a:t>
            </a:r>
            <a:endParaRPr lang="en-US" sz="8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0831" y="1401366"/>
            <a:ext cx="4737050" cy="895945"/>
          </a:xfrm>
          <a:prstGeom prst="rect">
            <a:avLst/>
          </a:prstGeom>
        </p:spPr>
      </p:pic>
      <p:sp>
        <p:nvSpPr>
          <p:cNvPr id="9" name="Text 5"/>
          <p:cNvSpPr/>
          <p:nvPr/>
        </p:nvSpPr>
        <p:spPr>
          <a:xfrm>
            <a:off x="4084960" y="1518345"/>
            <a:ext cx="1367358" cy="160511"/>
          </a:xfrm>
          <a:prstGeom prst="rect">
            <a:avLst/>
          </a:prstGeom>
          <a:noFill/>
          <a:ln/>
        </p:spPr>
        <p:txBody>
          <a:bodyPr wrap="none" lIns="0" tIns="0" rIns="0" bIns="0" rtlCol="0" anchor="t"/>
          <a:lstStyle/>
          <a:p>
            <a:pPr marL="0" indent="0" algn="l">
              <a:lnSpc>
                <a:spcPct val="104000"/>
              </a:lnSpc>
              <a:buNone/>
            </a:pPr>
            <a:r>
              <a:rPr lang="en-US" sz="1000" dirty="0">
                <a:solidFill>
                  <a:srgbClr val="1F7135"/>
                </a:solidFill>
                <a:latin typeface="Platypi Medium" pitchFamily="34" charset="0"/>
                <a:ea typeface="Platypi Medium" pitchFamily="34" charset="-122"/>
                <a:cs typeface="Platypi Medium" pitchFamily="34" charset="-120"/>
              </a:rPr>
              <a:t>Stateless Bearer JWT</a:t>
            </a:r>
            <a:endParaRPr lang="en-US" sz="1000" dirty="0"/>
          </a:p>
        </p:txBody>
      </p:sp>
      <p:sp>
        <p:nvSpPr>
          <p:cNvPr id="10" name="Text 6"/>
          <p:cNvSpPr/>
          <p:nvPr/>
        </p:nvSpPr>
        <p:spPr>
          <a:xfrm>
            <a:off x="4084960" y="1729829"/>
            <a:ext cx="4445943" cy="450503"/>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Request credentials are validated using signed headers decrypted dynamically in the Express pipeline. No server-side session store is required, eliminating sticky-session constraints.</a:t>
            </a:r>
            <a:endParaRPr lang="en-US" sz="8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0831" y="2382366"/>
            <a:ext cx="4737050" cy="750540"/>
          </a:xfrm>
          <a:prstGeom prst="rect">
            <a:avLst/>
          </a:prstGeom>
        </p:spPr>
      </p:pic>
      <p:sp>
        <p:nvSpPr>
          <p:cNvPr id="12" name="Text 7"/>
          <p:cNvSpPr/>
          <p:nvPr/>
        </p:nvSpPr>
        <p:spPr>
          <a:xfrm>
            <a:off x="4084960" y="2499345"/>
            <a:ext cx="1500336" cy="160511"/>
          </a:xfrm>
          <a:prstGeom prst="rect">
            <a:avLst/>
          </a:prstGeom>
          <a:noFill/>
          <a:ln/>
        </p:spPr>
        <p:txBody>
          <a:bodyPr wrap="none" lIns="0" tIns="0" rIns="0" bIns="0" rtlCol="0" anchor="t"/>
          <a:lstStyle/>
          <a:p>
            <a:pPr marL="0" indent="0" algn="l">
              <a:lnSpc>
                <a:spcPct val="104000"/>
              </a:lnSpc>
              <a:buNone/>
            </a:pPr>
            <a:r>
              <a:rPr lang="en-US" sz="1000" dirty="0">
                <a:solidFill>
                  <a:srgbClr val="1F7135"/>
                </a:solidFill>
                <a:latin typeface="Platypi Medium" pitchFamily="34" charset="0"/>
                <a:ea typeface="Platypi Medium" pitchFamily="34" charset="-122"/>
                <a:cs typeface="Platypi Medium" pitchFamily="34" charset="-120"/>
              </a:rPr>
              <a:t>RBAC Decorator Guards</a:t>
            </a:r>
            <a:endParaRPr lang="en-US" sz="1000" dirty="0"/>
          </a:p>
        </p:txBody>
      </p:sp>
      <p:sp>
        <p:nvSpPr>
          <p:cNvPr id="13" name="Text 8"/>
          <p:cNvSpPr/>
          <p:nvPr/>
        </p:nvSpPr>
        <p:spPr>
          <a:xfrm>
            <a:off x="4084960" y="2710830"/>
            <a:ext cx="4445943" cy="305098"/>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Custom </a:t>
            </a:r>
            <a:r>
              <a:rPr lang="en-US" sz="800" dirty="0">
                <a:solidFill>
                  <a:srgbClr val="504C49"/>
                </a:solidFill>
                <a:highlight>
                  <a:srgbClr val="F2F2F2"/>
                </a:highlight>
                <a:latin typeface="Consolas" pitchFamily="34" charset="0"/>
                <a:ea typeface="Consolas" pitchFamily="34" charset="-122"/>
                <a:cs typeface="Consolas" pitchFamily="34" charset="-120"/>
              </a:rPr>
              <a:t>allowRoles(...)</a:t>
            </a:r>
            <a:r>
              <a:rPr lang="en-US" sz="800" dirty="0">
                <a:solidFill>
                  <a:srgbClr val="504C49"/>
                </a:solidFill>
                <a:latin typeface="Source Serif 4" pitchFamily="34" charset="0"/>
                <a:ea typeface="Source Serif 4" pitchFamily="34" charset="-122"/>
                <a:cs typeface="Source Serif 4" pitchFamily="34" charset="-120"/>
              </a:rPr>
              <a:t> factory middleware prevents unauthorized access based on user roles — Admin, Manager, or Agent — applied per-route with surgical precision.</a:t>
            </a:r>
            <a:endParaRPr lang="en-US" sz="8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0831" y="3217962"/>
            <a:ext cx="4737050" cy="750540"/>
          </a:xfrm>
          <a:prstGeom prst="rect">
            <a:avLst/>
          </a:prstGeom>
        </p:spPr>
      </p:pic>
      <p:sp>
        <p:nvSpPr>
          <p:cNvPr id="15" name="Text 9"/>
          <p:cNvSpPr/>
          <p:nvPr/>
        </p:nvSpPr>
        <p:spPr>
          <a:xfrm>
            <a:off x="4084960" y="3334941"/>
            <a:ext cx="1421011" cy="160511"/>
          </a:xfrm>
          <a:prstGeom prst="rect">
            <a:avLst/>
          </a:prstGeom>
          <a:noFill/>
          <a:ln/>
        </p:spPr>
        <p:txBody>
          <a:bodyPr wrap="none" lIns="0" tIns="0" rIns="0" bIns="0" rtlCol="0" anchor="t"/>
          <a:lstStyle/>
          <a:p>
            <a:pPr marL="0" indent="0" algn="l">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Brute Force Protection</a:t>
            </a:r>
            <a:endParaRPr lang="en-US" sz="1000" dirty="0"/>
          </a:p>
        </p:txBody>
      </p:sp>
      <p:sp>
        <p:nvSpPr>
          <p:cNvPr id="16" name="Text 10"/>
          <p:cNvSpPr/>
          <p:nvPr/>
        </p:nvSpPr>
        <p:spPr>
          <a:xfrm>
            <a:off x="4084960" y="3546425"/>
            <a:ext cx="4445943" cy="305098"/>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Two-tier rate limiting: </a:t>
            </a:r>
            <a:r>
              <a:rPr lang="en-US" sz="800" dirty="0">
                <a:solidFill>
                  <a:srgbClr val="504C49"/>
                </a:solidFill>
                <a:highlight>
                  <a:srgbClr val="F2F2F2"/>
                </a:highlight>
                <a:latin typeface="Consolas" pitchFamily="34" charset="0"/>
                <a:ea typeface="Consolas" pitchFamily="34" charset="-122"/>
                <a:cs typeface="Consolas" pitchFamily="34" charset="-120"/>
              </a:rPr>
              <a:t>authLimiter</a:t>
            </a:r>
            <a:r>
              <a:rPr lang="en-US" sz="800" dirty="0">
                <a:solidFill>
                  <a:srgbClr val="504C49"/>
                </a:solidFill>
                <a:latin typeface="Source Serif 4" pitchFamily="34" charset="0"/>
                <a:ea typeface="Source Serif 4" pitchFamily="34" charset="-122"/>
                <a:cs typeface="Source Serif 4" pitchFamily="34" charset="-120"/>
              </a:rPr>
              <a:t> (10 req/15 min) guards login endpoints; </a:t>
            </a:r>
            <a:r>
              <a:rPr lang="en-US" sz="800" dirty="0">
                <a:solidFill>
                  <a:srgbClr val="504C49"/>
                </a:solidFill>
                <a:highlight>
                  <a:srgbClr val="F2F2F2"/>
                </a:highlight>
                <a:latin typeface="Consolas" pitchFamily="34" charset="0"/>
                <a:ea typeface="Consolas" pitchFamily="34" charset="-122"/>
                <a:cs typeface="Consolas" pitchFamily="34" charset="-120"/>
              </a:rPr>
              <a:t>apiLimiter</a:t>
            </a:r>
            <a:r>
              <a:rPr lang="en-US" sz="800" dirty="0">
                <a:solidFill>
                  <a:srgbClr val="504C49"/>
                </a:solidFill>
                <a:latin typeface="Source Serif 4" pitchFamily="34" charset="0"/>
                <a:ea typeface="Source Serif 4" pitchFamily="34" charset="-122"/>
                <a:cs typeface="Source Serif 4" pitchFamily="34" charset="-120"/>
              </a:rPr>
              <a:t> (100 req/1 min) protects general API throughput against abuse.</a:t>
            </a:r>
            <a:endParaRPr lang="en-US" sz="8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0831" y="4053557"/>
            <a:ext cx="4737050" cy="750540"/>
          </a:xfrm>
          <a:prstGeom prst="rect">
            <a:avLst/>
          </a:prstGeom>
        </p:spPr>
      </p:pic>
      <p:sp>
        <p:nvSpPr>
          <p:cNvPr id="18" name="Text 11"/>
          <p:cNvSpPr/>
          <p:nvPr/>
        </p:nvSpPr>
        <p:spPr>
          <a:xfrm>
            <a:off x="4084960" y="4170536"/>
            <a:ext cx="1474143" cy="160511"/>
          </a:xfrm>
          <a:prstGeom prst="rect">
            <a:avLst/>
          </a:prstGeom>
          <a:noFill/>
          <a:ln/>
        </p:spPr>
        <p:txBody>
          <a:bodyPr wrap="none" lIns="0" tIns="0" rIns="0" bIns="0" rtlCol="0" anchor="t"/>
          <a:lstStyle/>
          <a:p>
            <a:pPr marL="0" indent="0" algn="l">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HTTP Security Headers</a:t>
            </a:r>
            <a:endParaRPr lang="en-US" sz="1000" dirty="0"/>
          </a:p>
        </p:txBody>
      </p:sp>
      <p:sp>
        <p:nvSpPr>
          <p:cNvPr id="19" name="Text 12"/>
          <p:cNvSpPr/>
          <p:nvPr/>
        </p:nvSpPr>
        <p:spPr>
          <a:xfrm>
            <a:off x="4084960" y="4382021"/>
            <a:ext cx="4445943" cy="305098"/>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The </a:t>
            </a:r>
            <a:r>
              <a:rPr lang="en-US" sz="800" dirty="0">
                <a:solidFill>
                  <a:srgbClr val="504C49"/>
                </a:solidFill>
                <a:highlight>
                  <a:srgbClr val="F2F2F2"/>
                </a:highlight>
                <a:latin typeface="Consolas" pitchFamily="34" charset="0"/>
                <a:ea typeface="Consolas" pitchFamily="34" charset="-122"/>
                <a:cs typeface="Consolas" pitchFamily="34" charset="-120"/>
              </a:rPr>
              <a:t>helmet</a:t>
            </a:r>
            <a:r>
              <a:rPr lang="en-US" sz="800" dirty="0">
                <a:solidFill>
                  <a:srgbClr val="504C49"/>
                </a:solidFill>
                <a:latin typeface="Source Serif 4" pitchFamily="34" charset="0"/>
                <a:ea typeface="Source Serif 4" pitchFamily="34" charset="-122"/>
                <a:cs typeface="Source Serif 4" pitchFamily="34" charset="-120"/>
              </a:rPr>
              <a:t> middleware hardens HTTP response headers to mitigate XSS, clickjacking, and MIME-type sniffing attacks across all endpoints.</a:t>
            </a:r>
            <a:endParaRPr lang="en-US" sz="800" dirty="0"/>
          </a:p>
        </p:txBody>
      </p:sp>
      <p:sp>
        <p:nvSpPr>
          <p:cNvPr id="20" name="Rectangle 19">
            <a:extLst>
              <a:ext uri="{FF2B5EF4-FFF2-40B4-BE49-F238E27FC236}">
                <a16:creationId xmlns:a16="http://schemas.microsoft.com/office/drawing/2014/main" id="{CB49B869-01E2-923E-CA9A-45500B9F635B}"/>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489868"/>
            <a:ext cx="652983" cy="233214"/>
          </a:xfrm>
          <a:prstGeom prst="roundRect">
            <a:avLst>
              <a:gd name="adj" fmla="val 6383"/>
            </a:avLst>
          </a:prstGeom>
          <a:solidFill>
            <a:srgbClr val="F3E3D8"/>
          </a:solidFill>
          <a:ln/>
        </p:spPr>
      </p:sp>
      <p:sp>
        <p:nvSpPr>
          <p:cNvPr id="3" name="Text 1"/>
          <p:cNvSpPr/>
          <p:nvPr/>
        </p:nvSpPr>
        <p:spPr>
          <a:xfrm>
            <a:off x="570533" y="527075"/>
            <a:ext cx="961355"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DATABASE</a:t>
            </a:r>
            <a:endParaRPr lang="en-US" sz="750" dirty="0"/>
          </a:p>
        </p:txBody>
      </p:sp>
      <p:sp>
        <p:nvSpPr>
          <p:cNvPr id="4" name="Text 2"/>
          <p:cNvSpPr/>
          <p:nvPr/>
        </p:nvSpPr>
        <p:spPr>
          <a:xfrm>
            <a:off x="496119" y="772641"/>
            <a:ext cx="6977658" cy="387548"/>
          </a:xfrm>
          <a:prstGeom prst="rect">
            <a:avLst/>
          </a:prstGeom>
          <a:noFill/>
          <a:ln/>
        </p:spPr>
        <p:txBody>
          <a:bodyPr wrap="none" lIns="0" tIns="0" rIns="0" bIns="0" rtlCol="0" anchor="t"/>
          <a:lstStyle/>
          <a:p>
            <a:pPr marL="0" indent="0" algn="l">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Relational Normalization &amp; Data Retention</a:t>
            </a:r>
            <a:endParaRPr lang="en-US" sz="2400" dirty="0"/>
          </a:p>
        </p:txBody>
      </p:sp>
      <p:sp>
        <p:nvSpPr>
          <p:cNvPr id="5" name="Text 3"/>
          <p:cNvSpPr/>
          <p:nvPr/>
        </p:nvSpPr>
        <p:spPr>
          <a:xfrm>
            <a:off x="496119" y="1346225"/>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The schema is optimized for third-normal-form integrity, fast indexed lookups, and complete audit persistence — even when records are "deleted."</a:t>
            </a:r>
            <a:endParaRPr lang="en-US" sz="950" dirty="0"/>
          </a:p>
        </p:txBody>
      </p:sp>
      <p:sp>
        <p:nvSpPr>
          <p:cNvPr id="6" name="Text 4"/>
          <p:cNvSpPr/>
          <p:nvPr/>
        </p:nvSpPr>
        <p:spPr>
          <a:xfrm>
            <a:off x="496119" y="2006650"/>
            <a:ext cx="2409825" cy="193849"/>
          </a:xfrm>
          <a:prstGeom prst="rect">
            <a:avLst/>
          </a:prstGeom>
          <a:noFill/>
          <a:ln/>
        </p:spPr>
        <p:txBody>
          <a:bodyPr wrap="none" lIns="0" tIns="0" rIns="0" bIns="0" rtlCol="0" anchor="t"/>
          <a:lstStyle/>
          <a:p>
            <a:pPr marL="0" indent="0" algn="l">
              <a:lnSpc>
                <a:spcPct val="104000"/>
              </a:lnSpc>
              <a:buNone/>
            </a:pPr>
            <a:r>
              <a:rPr lang="en-US" sz="1200" dirty="0">
                <a:solidFill>
                  <a:srgbClr val="201B18"/>
                </a:solidFill>
                <a:latin typeface="Platypi Medium" pitchFamily="34" charset="0"/>
                <a:ea typeface="Platypi Medium" pitchFamily="34" charset="-122"/>
                <a:cs typeface="Platypi Medium" pitchFamily="34" charset="-120"/>
              </a:rPr>
              <a:t>Schema Design Principles</a:t>
            </a:r>
            <a:endParaRPr lang="en-US" sz="1200" dirty="0"/>
          </a:p>
        </p:txBody>
      </p:sp>
      <p:sp>
        <p:nvSpPr>
          <p:cNvPr id="7" name="Shape 5"/>
          <p:cNvSpPr/>
          <p:nvPr/>
        </p:nvSpPr>
        <p:spPr>
          <a:xfrm>
            <a:off x="496119" y="2340025"/>
            <a:ext cx="279053" cy="279053"/>
          </a:xfrm>
          <a:prstGeom prst="roundRect">
            <a:avLst>
              <a:gd name="adj" fmla="val 6668"/>
            </a:avLst>
          </a:prstGeom>
          <a:solidFill>
            <a:srgbClr val="F9F7F7"/>
          </a:solidFill>
          <a:ln/>
        </p:spPr>
      </p:sp>
      <p:sp>
        <p:nvSpPr>
          <p:cNvPr id="8" name="Text 6"/>
          <p:cNvSpPr/>
          <p:nvPr/>
        </p:nvSpPr>
        <p:spPr>
          <a:xfrm>
            <a:off x="542627" y="2363279"/>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504C49"/>
                </a:solidFill>
                <a:latin typeface="Platypi Medium" pitchFamily="34" charset="0"/>
                <a:ea typeface="Platypi Medium" pitchFamily="34" charset="-122"/>
                <a:cs typeface="Platypi Medium" pitchFamily="34" charset="-120"/>
              </a:rPr>
              <a:t>1</a:t>
            </a:r>
            <a:endParaRPr lang="en-US" sz="1450" dirty="0"/>
          </a:p>
        </p:txBody>
      </p:sp>
      <p:sp>
        <p:nvSpPr>
          <p:cNvPr id="9" name="Text 7"/>
          <p:cNvSpPr/>
          <p:nvPr/>
        </p:nvSpPr>
        <p:spPr>
          <a:xfrm>
            <a:off x="899145" y="2382664"/>
            <a:ext cx="1908944"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Third Normal Form (3NF)</a:t>
            </a:r>
            <a:endParaRPr lang="en-US" sz="1200" dirty="0"/>
          </a:p>
        </p:txBody>
      </p:sp>
      <p:sp>
        <p:nvSpPr>
          <p:cNvPr id="10" name="Text 8"/>
          <p:cNvSpPr/>
          <p:nvPr/>
        </p:nvSpPr>
        <p:spPr>
          <a:xfrm>
            <a:off x="899145" y="2700486"/>
            <a:ext cx="3521571"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Users, leads, and activity_logs are fully normalized into separate resources, eliminating update anomalies and data duplication.</a:t>
            </a:r>
            <a:endParaRPr lang="en-US" sz="950" dirty="0"/>
          </a:p>
        </p:txBody>
      </p:sp>
      <p:sp>
        <p:nvSpPr>
          <p:cNvPr id="11" name="Shape 9"/>
          <p:cNvSpPr/>
          <p:nvPr/>
        </p:nvSpPr>
        <p:spPr>
          <a:xfrm>
            <a:off x="496119" y="3543895"/>
            <a:ext cx="279053" cy="279053"/>
          </a:xfrm>
          <a:prstGeom prst="roundRect">
            <a:avLst>
              <a:gd name="adj" fmla="val 6668"/>
            </a:avLst>
          </a:prstGeom>
          <a:solidFill>
            <a:srgbClr val="F9F7F7"/>
          </a:solidFill>
          <a:ln/>
        </p:spPr>
      </p:sp>
      <p:sp>
        <p:nvSpPr>
          <p:cNvPr id="12" name="Text 10"/>
          <p:cNvSpPr/>
          <p:nvPr/>
        </p:nvSpPr>
        <p:spPr>
          <a:xfrm>
            <a:off x="542627" y="3567150"/>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504C49"/>
                </a:solidFill>
                <a:latin typeface="Platypi Medium" pitchFamily="34" charset="0"/>
                <a:ea typeface="Platypi Medium" pitchFamily="34" charset="-122"/>
                <a:cs typeface="Platypi Medium" pitchFamily="34" charset="-120"/>
              </a:rPr>
              <a:t>2</a:t>
            </a:r>
            <a:endParaRPr lang="en-US" sz="1450" dirty="0"/>
          </a:p>
        </p:txBody>
      </p:sp>
      <p:sp>
        <p:nvSpPr>
          <p:cNvPr id="13" name="Text 11"/>
          <p:cNvSpPr/>
          <p:nvPr/>
        </p:nvSpPr>
        <p:spPr>
          <a:xfrm>
            <a:off x="899145" y="358653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Referential Integrity</a:t>
            </a:r>
            <a:endParaRPr lang="en-US" sz="1200" dirty="0"/>
          </a:p>
        </p:txBody>
      </p:sp>
      <p:sp>
        <p:nvSpPr>
          <p:cNvPr id="14" name="Text 12"/>
          <p:cNvSpPr/>
          <p:nvPr/>
        </p:nvSpPr>
        <p:spPr>
          <a:xfrm>
            <a:off x="899145" y="3904357"/>
            <a:ext cx="3521571"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Foreign key constraints with defensive cascade actions — </a:t>
            </a:r>
            <a:r>
              <a:rPr lang="en-US" sz="950" dirty="0">
                <a:solidFill>
                  <a:srgbClr val="504C49"/>
                </a:solidFill>
                <a:highlight>
                  <a:srgbClr val="F2F2F2"/>
                </a:highlight>
                <a:latin typeface="Consolas" pitchFamily="34" charset="0"/>
                <a:ea typeface="Consolas" pitchFamily="34" charset="-122"/>
                <a:cs typeface="Consolas" pitchFamily="34" charset="-120"/>
              </a:rPr>
              <a:t>ON DELETE SET NULL</a:t>
            </a:r>
            <a:r>
              <a:rPr lang="en-US" sz="950" dirty="0">
                <a:solidFill>
                  <a:srgbClr val="504C49"/>
                </a:solidFill>
                <a:latin typeface="Source Serif 4" pitchFamily="34" charset="0"/>
                <a:ea typeface="Source Serif 4" pitchFamily="34" charset="-122"/>
                <a:cs typeface="Source Serif 4" pitchFamily="34" charset="-120"/>
              </a:rPr>
              <a:t> and </a:t>
            </a:r>
            <a:r>
              <a:rPr lang="en-US" sz="950" dirty="0">
                <a:solidFill>
                  <a:srgbClr val="504C49"/>
                </a:solidFill>
                <a:highlight>
                  <a:srgbClr val="F2F2F2"/>
                </a:highlight>
                <a:latin typeface="Consolas" pitchFamily="34" charset="0"/>
                <a:ea typeface="Consolas" pitchFamily="34" charset="-122"/>
                <a:cs typeface="Consolas" pitchFamily="34" charset="-120"/>
              </a:rPr>
              <a:t>ON DELETE CASCADE</a:t>
            </a:r>
            <a:r>
              <a:rPr lang="en-US" sz="950" dirty="0">
                <a:solidFill>
                  <a:srgbClr val="504C49"/>
                </a:solidFill>
                <a:latin typeface="Source Serif 4" pitchFamily="34" charset="0"/>
                <a:ea typeface="Source Serif 4" pitchFamily="34" charset="-122"/>
                <a:cs typeface="Source Serif 4" pitchFamily="34" charset="-120"/>
              </a:rPr>
              <a:t> — enforce relational consistency at the database level.</a:t>
            </a:r>
            <a:endParaRPr lang="en-US" sz="950" dirty="0"/>
          </a:p>
        </p:txBody>
      </p:sp>
      <p:sp>
        <p:nvSpPr>
          <p:cNvPr id="15" name="Text 13"/>
          <p:cNvSpPr/>
          <p:nvPr/>
        </p:nvSpPr>
        <p:spPr>
          <a:xfrm>
            <a:off x="4728046" y="2006650"/>
            <a:ext cx="2386236" cy="193849"/>
          </a:xfrm>
          <a:prstGeom prst="rect">
            <a:avLst/>
          </a:prstGeom>
          <a:noFill/>
          <a:ln/>
        </p:spPr>
        <p:txBody>
          <a:bodyPr wrap="none" lIns="0" tIns="0" rIns="0" bIns="0" rtlCol="0" anchor="t"/>
          <a:lstStyle/>
          <a:p>
            <a:pPr marL="0" indent="0" algn="l">
              <a:lnSpc>
                <a:spcPct val="104000"/>
              </a:lnSpc>
              <a:buNone/>
            </a:pPr>
            <a:r>
              <a:rPr lang="en-US" sz="1200" dirty="0">
                <a:solidFill>
                  <a:srgbClr val="201B18"/>
                </a:solidFill>
                <a:latin typeface="Platypi Medium" pitchFamily="34" charset="0"/>
                <a:ea typeface="Platypi Medium" pitchFamily="34" charset="-122"/>
                <a:cs typeface="Platypi Medium" pitchFamily="34" charset="-120"/>
              </a:rPr>
              <a:t>Performance &amp; Retention</a:t>
            </a:r>
            <a:endParaRPr lang="en-US" sz="1200" dirty="0"/>
          </a:p>
        </p:txBody>
      </p:sp>
      <p:sp>
        <p:nvSpPr>
          <p:cNvPr id="16" name="Shape 14"/>
          <p:cNvSpPr/>
          <p:nvPr/>
        </p:nvSpPr>
        <p:spPr>
          <a:xfrm>
            <a:off x="4728046" y="2340025"/>
            <a:ext cx="279053" cy="279053"/>
          </a:xfrm>
          <a:prstGeom prst="roundRect">
            <a:avLst>
              <a:gd name="adj" fmla="val 6668"/>
            </a:avLst>
          </a:prstGeom>
          <a:solidFill>
            <a:srgbClr val="F9F7F7"/>
          </a:solidFill>
          <a:ln/>
        </p:spPr>
      </p:sp>
      <p:sp>
        <p:nvSpPr>
          <p:cNvPr id="17" name="Text 15"/>
          <p:cNvSpPr/>
          <p:nvPr/>
        </p:nvSpPr>
        <p:spPr>
          <a:xfrm>
            <a:off x="4774555" y="2363279"/>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504C49"/>
                </a:solidFill>
                <a:latin typeface="Platypi Medium" pitchFamily="34" charset="0"/>
                <a:ea typeface="Platypi Medium" pitchFamily="34" charset="-122"/>
                <a:cs typeface="Platypi Medium" pitchFamily="34" charset="-120"/>
              </a:rPr>
              <a:t>1</a:t>
            </a:r>
            <a:endParaRPr lang="en-US" sz="1450" dirty="0"/>
          </a:p>
        </p:txBody>
      </p:sp>
      <p:sp>
        <p:nvSpPr>
          <p:cNvPr id="18" name="Text 16"/>
          <p:cNvSpPr/>
          <p:nvPr/>
        </p:nvSpPr>
        <p:spPr>
          <a:xfrm>
            <a:off x="5131073" y="238266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Index Optimization</a:t>
            </a:r>
            <a:endParaRPr lang="en-US" sz="1200" dirty="0"/>
          </a:p>
        </p:txBody>
      </p:sp>
      <p:sp>
        <p:nvSpPr>
          <p:cNvPr id="19" name="Text 17"/>
          <p:cNvSpPr/>
          <p:nvPr/>
        </p:nvSpPr>
        <p:spPr>
          <a:xfrm>
            <a:off x="5131073" y="2700486"/>
            <a:ext cx="3521571" cy="6049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Targeted indexes on </a:t>
            </a:r>
            <a:r>
              <a:rPr lang="en-US" sz="950" dirty="0">
                <a:solidFill>
                  <a:srgbClr val="504C49"/>
                </a:solidFill>
                <a:highlight>
                  <a:srgbClr val="F2F2F2"/>
                </a:highlight>
                <a:latin typeface="Consolas" pitchFamily="34" charset="0"/>
                <a:ea typeface="Consolas" pitchFamily="34" charset="-122"/>
                <a:cs typeface="Consolas" pitchFamily="34" charset="-120"/>
              </a:rPr>
              <a:t>leads(status)</a:t>
            </a:r>
            <a:r>
              <a:rPr lang="en-US" sz="950" dirty="0">
                <a:solidFill>
                  <a:srgbClr val="504C49"/>
                </a:solidFill>
                <a:latin typeface="Source Serif 4" pitchFamily="34" charset="0"/>
                <a:ea typeface="Source Serif 4" pitchFamily="34" charset="-122"/>
                <a:cs typeface="Source Serif 4" pitchFamily="34" charset="-120"/>
              </a:rPr>
              <a:t>, </a:t>
            </a:r>
            <a:r>
              <a:rPr lang="en-US" sz="950" dirty="0">
                <a:solidFill>
                  <a:srgbClr val="504C49"/>
                </a:solidFill>
                <a:highlight>
                  <a:srgbClr val="F2F2F2"/>
                </a:highlight>
                <a:latin typeface="Consolas" pitchFamily="34" charset="0"/>
                <a:ea typeface="Consolas" pitchFamily="34" charset="-122"/>
                <a:cs typeface="Consolas" pitchFamily="34" charset="-120"/>
              </a:rPr>
              <a:t>leads(assigned_to)</a:t>
            </a:r>
            <a:r>
              <a:rPr lang="en-US" sz="950" dirty="0">
                <a:solidFill>
                  <a:srgbClr val="504C49"/>
                </a:solidFill>
                <a:latin typeface="Source Serif 4" pitchFamily="34" charset="0"/>
                <a:ea typeface="Source Serif 4" pitchFamily="34" charset="-122"/>
                <a:cs typeface="Source Serif 4" pitchFamily="34" charset="-120"/>
              </a:rPr>
              <a:t>, and </a:t>
            </a:r>
            <a:r>
              <a:rPr lang="en-US" sz="950" dirty="0">
                <a:solidFill>
                  <a:srgbClr val="504C49"/>
                </a:solidFill>
                <a:highlight>
                  <a:srgbClr val="F2F2F2"/>
                </a:highlight>
                <a:latin typeface="Consolas" pitchFamily="34" charset="0"/>
                <a:ea typeface="Consolas" pitchFamily="34" charset="-122"/>
                <a:cs typeface="Consolas" pitchFamily="34" charset="-120"/>
              </a:rPr>
              <a:t>activity_logs(lead_id)</a:t>
            </a:r>
            <a:r>
              <a:rPr lang="en-US" sz="950" dirty="0">
                <a:solidFill>
                  <a:srgbClr val="504C49"/>
                </a:solidFill>
                <a:latin typeface="Source Serif 4" pitchFamily="34" charset="0"/>
                <a:ea typeface="Source Serif 4" pitchFamily="34" charset="-122"/>
                <a:cs typeface="Source Serif 4" pitchFamily="34" charset="-120"/>
              </a:rPr>
              <a:t> accelerate the most common query paths.</a:t>
            </a:r>
            <a:endParaRPr lang="en-US" sz="950" dirty="0"/>
          </a:p>
        </p:txBody>
      </p:sp>
      <p:sp>
        <p:nvSpPr>
          <p:cNvPr id="20" name="Shape 18"/>
          <p:cNvSpPr/>
          <p:nvPr/>
        </p:nvSpPr>
        <p:spPr>
          <a:xfrm>
            <a:off x="4728046" y="3553420"/>
            <a:ext cx="279053" cy="279053"/>
          </a:xfrm>
          <a:prstGeom prst="roundRect">
            <a:avLst>
              <a:gd name="adj" fmla="val 6668"/>
            </a:avLst>
          </a:prstGeom>
          <a:solidFill>
            <a:srgbClr val="F9F7F7"/>
          </a:solidFill>
          <a:ln/>
        </p:spPr>
      </p:sp>
      <p:sp>
        <p:nvSpPr>
          <p:cNvPr id="21" name="Text 19"/>
          <p:cNvSpPr/>
          <p:nvPr/>
        </p:nvSpPr>
        <p:spPr>
          <a:xfrm>
            <a:off x="4774555" y="3576675"/>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504C49"/>
                </a:solidFill>
                <a:latin typeface="Platypi Medium" pitchFamily="34" charset="0"/>
                <a:ea typeface="Platypi Medium" pitchFamily="34" charset="-122"/>
                <a:cs typeface="Platypi Medium" pitchFamily="34" charset="-120"/>
              </a:rPr>
              <a:t>2</a:t>
            </a:r>
            <a:endParaRPr lang="en-US" sz="1450" dirty="0"/>
          </a:p>
        </p:txBody>
      </p:sp>
      <p:sp>
        <p:nvSpPr>
          <p:cNvPr id="22" name="Text 20"/>
          <p:cNvSpPr/>
          <p:nvPr/>
        </p:nvSpPr>
        <p:spPr>
          <a:xfrm>
            <a:off x="5131073" y="3596060"/>
            <a:ext cx="1635770"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Soft Delete Retention</a:t>
            </a:r>
            <a:endParaRPr lang="en-US" sz="1200" dirty="0"/>
          </a:p>
        </p:txBody>
      </p:sp>
      <p:sp>
        <p:nvSpPr>
          <p:cNvPr id="23" name="Text 21"/>
          <p:cNvSpPr/>
          <p:nvPr/>
        </p:nvSpPr>
        <p:spPr>
          <a:xfrm>
            <a:off x="5131073" y="3913882"/>
            <a:ext cx="3521571"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Leads are flagged with </a:t>
            </a:r>
            <a:r>
              <a:rPr lang="en-US" sz="950" dirty="0">
                <a:solidFill>
                  <a:srgbClr val="504C49"/>
                </a:solidFill>
                <a:highlight>
                  <a:srgbClr val="F2F2F2"/>
                </a:highlight>
                <a:latin typeface="Consolas" pitchFamily="34" charset="0"/>
                <a:ea typeface="Consolas" pitchFamily="34" charset="-122"/>
                <a:cs typeface="Consolas" pitchFamily="34" charset="-120"/>
              </a:rPr>
              <a:t>deleted_at</a:t>
            </a:r>
            <a:r>
              <a:rPr lang="en-US" sz="950" dirty="0">
                <a:solidFill>
                  <a:srgbClr val="504C49"/>
                </a:solidFill>
                <a:latin typeface="Source Serif 4" pitchFamily="34" charset="0"/>
                <a:ea typeface="Source Serif 4" pitchFamily="34" charset="-122"/>
                <a:cs typeface="Source Serif 4" pitchFamily="34" charset="-120"/>
              </a:rPr>
              <a:t> rather than hard-deleted, preventing cascading wipes of matching activity_logs and preserving full audit trails.</a:t>
            </a:r>
            <a:endParaRPr lang="en-US" sz="950" dirty="0"/>
          </a:p>
        </p:txBody>
      </p:sp>
      <p:sp>
        <p:nvSpPr>
          <p:cNvPr id="24" name="Rectangle 23">
            <a:extLst>
              <a:ext uri="{FF2B5EF4-FFF2-40B4-BE49-F238E27FC236}">
                <a16:creationId xmlns:a16="http://schemas.microsoft.com/office/drawing/2014/main" id="{F0C094BD-EC83-D086-6373-84CCF0907755}"/>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27336" y="345579"/>
            <a:ext cx="691083" cy="164157"/>
          </a:xfrm>
          <a:prstGeom prst="roundRect">
            <a:avLst>
              <a:gd name="adj" fmla="val 6943"/>
            </a:avLst>
          </a:prstGeom>
          <a:solidFill>
            <a:srgbClr val="F3E3D8"/>
          </a:solidFill>
          <a:ln/>
        </p:spPr>
      </p:sp>
      <p:sp>
        <p:nvSpPr>
          <p:cNvPr id="3" name="Text 1"/>
          <p:cNvSpPr/>
          <p:nvPr/>
        </p:nvSpPr>
        <p:spPr>
          <a:xfrm>
            <a:off x="884262" y="374005"/>
            <a:ext cx="1034430" cy="107305"/>
          </a:xfrm>
          <a:prstGeom prst="rect">
            <a:avLst/>
          </a:prstGeom>
          <a:noFill/>
          <a:ln/>
        </p:spPr>
        <p:txBody>
          <a:bodyPr wrap="none" lIns="0" tIns="0" rIns="0" bIns="0" rtlCol="0" anchor="t"/>
          <a:lstStyle/>
          <a:p>
            <a:pPr marL="0" indent="0" algn="l">
              <a:lnSpc>
                <a:spcPct val="118000"/>
              </a:lnSpc>
              <a:buNone/>
            </a:pPr>
            <a:r>
              <a:rPr lang="en-US" sz="550" dirty="0">
                <a:solidFill>
                  <a:srgbClr val="504C49"/>
                </a:solidFill>
                <a:latin typeface="Source Serif 4" pitchFamily="34" charset="0"/>
                <a:ea typeface="Source Serif 4" pitchFamily="34" charset="-122"/>
                <a:cs typeface="Source Serif 4" pitchFamily="34" charset="-120"/>
              </a:rPr>
              <a:t>CONCURRENCY</a:t>
            </a:r>
            <a:endParaRPr lang="en-US" sz="550" dirty="0"/>
          </a:p>
        </p:txBody>
      </p:sp>
      <p:sp>
        <p:nvSpPr>
          <p:cNvPr id="4" name="Text 2"/>
          <p:cNvSpPr/>
          <p:nvPr/>
        </p:nvSpPr>
        <p:spPr>
          <a:xfrm>
            <a:off x="827336" y="538758"/>
            <a:ext cx="4944219" cy="296763"/>
          </a:xfrm>
          <a:prstGeom prst="rect">
            <a:avLst/>
          </a:prstGeom>
          <a:noFill/>
          <a:ln/>
        </p:spPr>
        <p:txBody>
          <a:bodyPr wrap="none" lIns="0" tIns="0" rIns="0" bIns="0" rtlCol="0" anchor="t"/>
          <a:lstStyle/>
          <a:p>
            <a:pPr marL="0" indent="0" algn="l">
              <a:lnSpc>
                <a:spcPct val="104000"/>
              </a:lnSpc>
              <a:buNone/>
            </a:pPr>
            <a:r>
              <a:rPr lang="en-US" sz="1850" dirty="0">
                <a:solidFill>
                  <a:srgbClr val="201B18"/>
                </a:solidFill>
                <a:latin typeface="Platypi Medium" pitchFamily="34" charset="0"/>
                <a:ea typeface="Platypi Medium" pitchFamily="34" charset="-122"/>
                <a:cs typeface="Platypi Medium" pitchFamily="34" charset="-120"/>
              </a:rPr>
              <a:t>Concurrency-Safe Workload Balancing</a:t>
            </a:r>
            <a:endParaRPr lang="en-US" sz="1850" dirty="0"/>
          </a:p>
        </p:txBody>
      </p:sp>
      <p:sp>
        <p:nvSpPr>
          <p:cNvPr id="5" name="Text 3"/>
          <p:cNvSpPr/>
          <p:nvPr/>
        </p:nvSpPr>
        <p:spPr>
          <a:xfrm>
            <a:off x="827336" y="944538"/>
            <a:ext cx="7946454" cy="134094"/>
          </a:xfrm>
          <a:prstGeom prst="rect">
            <a:avLst/>
          </a:prstGeom>
          <a:noFill/>
          <a:ln/>
        </p:spPr>
        <p:txBody>
          <a:bodyPr wrap="none" lIns="0" tIns="0" rIns="0" bIns="0" rtlCol="0" anchor="t"/>
          <a:lstStyle/>
          <a:p>
            <a:pPr marL="0" indent="0" algn="l">
              <a:lnSpc>
                <a:spcPct val="118000"/>
              </a:lnSpc>
              <a:buNone/>
            </a:pPr>
            <a:r>
              <a:rPr lang="en-US" sz="700" dirty="0">
                <a:solidFill>
                  <a:srgbClr val="504C49"/>
                </a:solidFill>
                <a:latin typeface="Source Serif 4" pitchFamily="34" charset="0"/>
                <a:ea typeface="Source Serif 4" pitchFamily="34" charset="-122"/>
                <a:cs typeface="Source Serif 4" pitchFamily="34" charset="-120"/>
              </a:rPr>
              <a:t>Lead auto-assignment uses a least-loaded algorithm with PostgreSQL advisory locks to prevent race conditions under concurrent request bursts.</a:t>
            </a:r>
            <a:endParaRPr lang="en-US" sz="700" dirty="0"/>
          </a:p>
        </p:txBody>
      </p:sp>
      <p:pic>
        <p:nvPicPr>
          <p:cNvPr id="6" name="Image 0" descr="preencoded.png"/>
          <p:cNvPicPr>
            <a:picLocks noChangeAspect="1"/>
          </p:cNvPicPr>
          <p:nvPr/>
        </p:nvPicPr>
        <p:blipFill>
          <a:blip r:embed="rId3"/>
          <a:stretch>
            <a:fillRect/>
          </a:stretch>
        </p:blipFill>
        <p:spPr>
          <a:xfrm>
            <a:off x="827336" y="1160413"/>
            <a:ext cx="7489254" cy="3287539"/>
          </a:xfrm>
          <a:prstGeom prst="rect">
            <a:avLst/>
          </a:prstGeom>
        </p:spPr>
      </p:pic>
      <p:sp>
        <p:nvSpPr>
          <p:cNvPr id="7" name="Text 4"/>
          <p:cNvSpPr/>
          <p:nvPr/>
        </p:nvSpPr>
        <p:spPr>
          <a:xfrm>
            <a:off x="2097828" y="3397128"/>
            <a:ext cx="1312780" cy="202868"/>
          </a:xfrm>
          <a:prstGeom prst="rect">
            <a:avLst/>
          </a:prstGeom>
          <a:noFill/>
          <a:ln/>
        </p:spPr>
        <p:txBody>
          <a:bodyPr wrap="none" lIns="0" tIns="0" rIns="0" bIns="0" rtlCol="0" anchor="t"/>
          <a:lstStyle/>
          <a:p>
            <a:pPr marL="0" indent="0" algn="ctr">
              <a:lnSpc>
                <a:spcPct val="104000"/>
              </a:lnSpc>
              <a:buNone/>
            </a:pPr>
            <a:r>
              <a:rPr lang="en-US" sz="1250" dirty="0">
                <a:solidFill>
                  <a:srgbClr val="201B18"/>
                </a:solidFill>
                <a:latin typeface="Platypi Medium" pitchFamily="34" charset="0"/>
                <a:ea typeface="Platypi Medium" pitchFamily="34" charset="-122"/>
                <a:cs typeface="Platypi Medium" pitchFamily="34" charset="-120"/>
              </a:rPr>
              <a:t>Begin &amp; Lock</a:t>
            </a:r>
            <a:endParaRPr lang="en-US" sz="1250" dirty="0"/>
          </a:p>
        </p:txBody>
      </p:sp>
      <p:sp>
        <p:nvSpPr>
          <p:cNvPr id="8" name="Text 5"/>
          <p:cNvSpPr/>
          <p:nvPr/>
        </p:nvSpPr>
        <p:spPr>
          <a:xfrm>
            <a:off x="2097828" y="3657700"/>
            <a:ext cx="1312780" cy="429742"/>
          </a:xfrm>
          <a:prstGeom prst="rect">
            <a:avLst/>
          </a:prstGeom>
          <a:noFill/>
          <a:ln/>
        </p:spPr>
        <p:txBody>
          <a:bodyPr wrap="square" lIns="0" tIns="0" rIns="0" bIns="0" rtlCol="0" anchor="t">
            <a:normAutofit/>
          </a:bodyPr>
          <a:lstStyle/>
          <a:p>
            <a:pPr marL="0" indent="0" algn="ctr">
              <a:lnSpc>
                <a:spcPct val="92000"/>
              </a:lnSpc>
              <a:buNone/>
            </a:pPr>
            <a:r>
              <a:rPr lang="en-US" sz="1000" dirty="0">
                <a:solidFill>
                  <a:srgbClr val="504C49"/>
                </a:solidFill>
                <a:latin typeface="Source Serif 4" pitchFamily="34" charset="0"/>
                <a:ea typeface="Source Serif 4" pitchFamily="34" charset="-122"/>
                <a:cs typeface="Source Serif 4" pitchFamily="34" charset="-120"/>
              </a:rPr>
              <a:t>BEGIN; pg_advisory_xact_lock(1001)</a:t>
            </a:r>
            <a:endParaRPr lang="en-US" sz="1000" dirty="0"/>
          </a:p>
        </p:txBody>
      </p:sp>
      <p:sp>
        <p:nvSpPr>
          <p:cNvPr id="9" name="Text 6"/>
          <p:cNvSpPr/>
          <p:nvPr/>
        </p:nvSpPr>
        <p:spPr>
          <a:xfrm>
            <a:off x="5783710" y="3143769"/>
            <a:ext cx="1312780" cy="405735"/>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201B18"/>
                </a:solidFill>
                <a:latin typeface="Platypi Medium" pitchFamily="34" charset="0"/>
                <a:ea typeface="Platypi Medium" pitchFamily="34" charset="-122"/>
                <a:cs typeface="Platypi Medium" pitchFamily="34" charset="-120"/>
              </a:rPr>
              <a:t>Commit &amp; Release</a:t>
            </a:r>
            <a:endParaRPr lang="en-US" sz="1250" dirty="0"/>
          </a:p>
        </p:txBody>
      </p:sp>
      <p:sp>
        <p:nvSpPr>
          <p:cNvPr id="10" name="Text 7"/>
          <p:cNvSpPr/>
          <p:nvPr/>
        </p:nvSpPr>
        <p:spPr>
          <a:xfrm>
            <a:off x="5783710" y="3607209"/>
            <a:ext cx="1312780" cy="429742"/>
          </a:xfrm>
          <a:prstGeom prst="rect">
            <a:avLst/>
          </a:prstGeom>
          <a:noFill/>
          <a:ln/>
        </p:spPr>
        <p:txBody>
          <a:bodyPr wrap="square" lIns="0" tIns="0" rIns="0" bIns="0" rtlCol="0" anchor="t">
            <a:normAutofit/>
          </a:bodyPr>
          <a:lstStyle/>
          <a:p>
            <a:pPr marL="0" indent="0" algn="ctr">
              <a:lnSpc>
                <a:spcPct val="92000"/>
              </a:lnSpc>
              <a:buNone/>
            </a:pPr>
            <a:r>
              <a:rPr lang="en-US" sz="1000" dirty="0">
                <a:solidFill>
                  <a:srgbClr val="504C49"/>
                </a:solidFill>
                <a:latin typeface="Source Serif 4" pitchFamily="34" charset="0"/>
                <a:ea typeface="Source Serif 4" pitchFamily="34" charset="-122"/>
                <a:cs typeface="Source Serif 4" pitchFamily="34" charset="-120"/>
              </a:rPr>
              <a:t>COMMIT; lock released automatically</a:t>
            </a:r>
            <a:endParaRPr lang="en-US" sz="1000" dirty="0"/>
          </a:p>
        </p:txBody>
      </p:sp>
      <p:sp>
        <p:nvSpPr>
          <p:cNvPr id="11" name="Text 8"/>
          <p:cNvSpPr/>
          <p:nvPr/>
        </p:nvSpPr>
        <p:spPr>
          <a:xfrm>
            <a:off x="3951589" y="1505160"/>
            <a:ext cx="1312780" cy="202868"/>
          </a:xfrm>
          <a:prstGeom prst="rect">
            <a:avLst/>
          </a:prstGeom>
          <a:noFill/>
          <a:ln/>
        </p:spPr>
        <p:txBody>
          <a:bodyPr wrap="none" lIns="0" tIns="0" rIns="0" bIns="0" rtlCol="0" anchor="t"/>
          <a:lstStyle/>
          <a:p>
            <a:pPr marL="0" indent="0" algn="ctr">
              <a:lnSpc>
                <a:spcPct val="104000"/>
              </a:lnSpc>
              <a:buNone/>
            </a:pPr>
            <a:r>
              <a:rPr lang="en-US" sz="1250" dirty="0">
                <a:solidFill>
                  <a:srgbClr val="201B18"/>
                </a:solidFill>
                <a:latin typeface="Platypi Medium" pitchFamily="34" charset="0"/>
                <a:ea typeface="Platypi Medium" pitchFamily="34" charset="-122"/>
                <a:cs typeface="Platypi Medium" pitchFamily="34" charset="-120"/>
              </a:rPr>
              <a:t>Calculate Load</a:t>
            </a:r>
            <a:endParaRPr lang="en-US" sz="1250" dirty="0"/>
          </a:p>
        </p:txBody>
      </p:sp>
      <p:sp>
        <p:nvSpPr>
          <p:cNvPr id="12" name="Text 9"/>
          <p:cNvSpPr/>
          <p:nvPr/>
        </p:nvSpPr>
        <p:spPr>
          <a:xfrm>
            <a:off x="3951589" y="1765733"/>
            <a:ext cx="1312780" cy="429742"/>
          </a:xfrm>
          <a:prstGeom prst="rect">
            <a:avLst/>
          </a:prstGeom>
          <a:noFill/>
          <a:ln/>
        </p:spPr>
        <p:txBody>
          <a:bodyPr wrap="square" lIns="0" tIns="0" rIns="0" bIns="0" rtlCol="0" anchor="t">
            <a:normAutofit/>
          </a:bodyPr>
          <a:lstStyle/>
          <a:p>
            <a:pPr marL="0" indent="0" algn="ctr">
              <a:lnSpc>
                <a:spcPct val="92000"/>
              </a:lnSpc>
              <a:buNone/>
            </a:pPr>
            <a:r>
              <a:rPr lang="en-US" sz="1000" dirty="0">
                <a:solidFill>
                  <a:srgbClr val="504C49"/>
                </a:solidFill>
                <a:latin typeface="Source Serif 4" pitchFamily="34" charset="0"/>
                <a:ea typeface="Source Serif 4" pitchFamily="34" charset="-122"/>
                <a:cs typeface="Source Serif 4" pitchFamily="34" charset="-120"/>
              </a:rPr>
              <a:t>Compute workloads; pick least-loaded; oldest tie-break</a:t>
            </a:r>
            <a:endParaRPr lang="en-US" sz="1000" dirty="0"/>
          </a:p>
        </p:txBody>
      </p:sp>
      <p:sp>
        <p:nvSpPr>
          <p:cNvPr id="13" name="Text 10"/>
          <p:cNvSpPr/>
          <p:nvPr/>
        </p:nvSpPr>
        <p:spPr>
          <a:xfrm>
            <a:off x="827336" y="4529733"/>
            <a:ext cx="7489254" cy="268188"/>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504C49"/>
                </a:solidFill>
                <a:latin typeface="Source Serif 4" pitchFamily="34" charset="0"/>
                <a:ea typeface="Source Serif 4" pitchFamily="34" charset="-122"/>
                <a:cs typeface="Source Serif 4" pitchFamily="34" charset="-120"/>
              </a:rPr>
              <a:t>Under default Read Committed isolation, concurrent lead creations could read identical workload snapshots, assigning multiple leads to the same agent. The advisory lock serializes workload checks within the transaction boundary, guaranteeing balanced distribution even under high concurrency.</a:t>
            </a:r>
            <a:endParaRPr lang="en-US" sz="700" dirty="0"/>
          </a:p>
        </p:txBody>
      </p:sp>
      <p:sp>
        <p:nvSpPr>
          <p:cNvPr id="14" name="Rectangle 13">
            <a:extLst>
              <a:ext uri="{FF2B5EF4-FFF2-40B4-BE49-F238E27FC236}">
                <a16:creationId xmlns:a16="http://schemas.microsoft.com/office/drawing/2014/main" id="{0A3097F2-C7B0-7BCC-95DC-DF40704D53B6}"/>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911423"/>
            <a:ext cx="917004" cy="233214"/>
          </a:xfrm>
          <a:prstGeom prst="roundRect">
            <a:avLst>
              <a:gd name="adj" fmla="val 6383"/>
            </a:avLst>
          </a:prstGeom>
          <a:solidFill>
            <a:srgbClr val="F3E3D8"/>
          </a:solidFill>
          <a:ln/>
        </p:spPr>
      </p:sp>
      <p:sp>
        <p:nvSpPr>
          <p:cNvPr id="3" name="Text 1"/>
          <p:cNvSpPr/>
          <p:nvPr/>
        </p:nvSpPr>
        <p:spPr>
          <a:xfrm>
            <a:off x="570533" y="948630"/>
            <a:ext cx="1225376"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OBSERVABILITY</a:t>
            </a:r>
            <a:endParaRPr lang="en-US" sz="750" dirty="0"/>
          </a:p>
        </p:txBody>
      </p:sp>
      <p:sp>
        <p:nvSpPr>
          <p:cNvPr id="4" name="Text 2"/>
          <p:cNvSpPr/>
          <p:nvPr/>
        </p:nvSpPr>
        <p:spPr>
          <a:xfrm>
            <a:off x="496119" y="1194197"/>
            <a:ext cx="6482804" cy="387548"/>
          </a:xfrm>
          <a:prstGeom prst="rect">
            <a:avLst/>
          </a:prstGeom>
          <a:noFill/>
          <a:ln/>
        </p:spPr>
        <p:txBody>
          <a:bodyPr wrap="none" lIns="0" tIns="0" rIns="0" bIns="0" rtlCol="0" anchor="t"/>
          <a:lstStyle/>
          <a:p>
            <a:pPr marL="0" indent="0" algn="l">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Structured Logs &amp; Non-Blocking Events</a:t>
            </a:r>
            <a:endParaRPr lang="en-US" sz="2400" dirty="0"/>
          </a:p>
        </p:txBody>
      </p:sp>
      <p:sp>
        <p:nvSpPr>
          <p:cNvPr id="5" name="Text 3"/>
          <p:cNvSpPr/>
          <p:nvPr/>
        </p:nvSpPr>
        <p:spPr>
          <a:xfrm>
            <a:off x="496119" y="1767780"/>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Production-ready logging and resilient system integrations ensure every action is traceable without compromising API response times.</a:t>
            </a:r>
            <a:endParaRPr lang="en-US" sz="950" dirty="0"/>
          </a:p>
        </p:txBody>
      </p:sp>
      <p:pic>
        <p:nvPicPr>
          <p:cNvPr id="6" name="Image 0" descr="preencoded.png"/>
          <p:cNvPicPr>
            <a:picLocks noChangeAspect="1"/>
          </p:cNvPicPr>
          <p:nvPr/>
        </p:nvPicPr>
        <p:blipFill>
          <a:blip r:embed="rId3"/>
          <a:stretch>
            <a:fillRect/>
          </a:stretch>
        </p:blipFill>
        <p:spPr>
          <a:xfrm>
            <a:off x="496119" y="2105769"/>
            <a:ext cx="1150069" cy="710729"/>
          </a:xfrm>
          <a:prstGeom prst="rect">
            <a:avLst/>
          </a:prstGeom>
        </p:spPr>
      </p:pic>
      <p:sp>
        <p:nvSpPr>
          <p:cNvPr id="7" name="Text 4"/>
          <p:cNvSpPr/>
          <p:nvPr/>
        </p:nvSpPr>
        <p:spPr>
          <a:xfrm>
            <a:off x="496119" y="2971502"/>
            <a:ext cx="1916832"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Audit Logger Middleware</a:t>
            </a:r>
            <a:endParaRPr lang="en-US" sz="1200" dirty="0"/>
          </a:p>
        </p:txBody>
      </p:sp>
      <p:sp>
        <p:nvSpPr>
          <p:cNvPr id="8" name="Text 5"/>
          <p:cNvSpPr/>
          <p:nvPr/>
        </p:nvSpPr>
        <p:spPr>
          <a:xfrm>
            <a:off x="496119" y="3239765"/>
            <a:ext cx="261386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Every completed HTTP response is converted into a structured JSON record capturing path, method, user ID, role, status code, IP address, and timestamp — enabling full forensic traceability.</a:t>
            </a:r>
            <a:endParaRPr lang="en-US" sz="950" dirty="0"/>
          </a:p>
        </p:txBody>
      </p:sp>
      <p:pic>
        <p:nvPicPr>
          <p:cNvPr id="9" name="Image 1" descr="preencoded.png"/>
          <p:cNvPicPr>
            <a:picLocks noChangeAspect="1"/>
          </p:cNvPicPr>
          <p:nvPr/>
        </p:nvPicPr>
        <p:blipFill>
          <a:blip r:embed="rId4"/>
          <a:stretch>
            <a:fillRect/>
          </a:stretch>
        </p:blipFill>
        <p:spPr>
          <a:xfrm>
            <a:off x="3264991" y="2105769"/>
            <a:ext cx="1150069" cy="710729"/>
          </a:xfrm>
          <a:prstGeom prst="rect">
            <a:avLst/>
          </a:prstGeom>
        </p:spPr>
      </p:pic>
      <p:sp>
        <p:nvSpPr>
          <p:cNvPr id="10" name="Text 6"/>
          <p:cNvSpPr/>
          <p:nvPr/>
        </p:nvSpPr>
        <p:spPr>
          <a:xfrm>
            <a:off x="3264991" y="2971502"/>
            <a:ext cx="2064841"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Detailed Activity Timelines</a:t>
            </a:r>
            <a:endParaRPr lang="en-US" sz="1200" dirty="0"/>
          </a:p>
        </p:txBody>
      </p:sp>
      <p:sp>
        <p:nvSpPr>
          <p:cNvPr id="11" name="Text 7"/>
          <p:cNvSpPr/>
          <p:nvPr/>
        </p:nvSpPr>
        <p:spPr>
          <a:xfrm>
            <a:off x="3264991" y="3239765"/>
            <a:ext cx="261394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Status updates and field changes are logged with performer metadata, rendering a chronological activity timeline for each lead — critical for compliance and dispute resolution.</a:t>
            </a:r>
            <a:endParaRPr lang="en-US" sz="950" dirty="0"/>
          </a:p>
        </p:txBody>
      </p:sp>
      <p:pic>
        <p:nvPicPr>
          <p:cNvPr id="12" name="Image 2" descr="preencoded.png"/>
          <p:cNvPicPr>
            <a:picLocks noChangeAspect="1"/>
          </p:cNvPicPr>
          <p:nvPr/>
        </p:nvPicPr>
        <p:blipFill>
          <a:blip r:embed="rId5"/>
          <a:stretch>
            <a:fillRect/>
          </a:stretch>
        </p:blipFill>
        <p:spPr>
          <a:xfrm>
            <a:off x="6033939" y="2105769"/>
            <a:ext cx="1150069" cy="710729"/>
          </a:xfrm>
          <a:prstGeom prst="rect">
            <a:avLst/>
          </a:prstGeom>
        </p:spPr>
      </p:pic>
      <p:sp>
        <p:nvSpPr>
          <p:cNvPr id="13" name="Text 8"/>
          <p:cNvSpPr/>
          <p:nvPr/>
        </p:nvSpPr>
        <p:spPr>
          <a:xfrm>
            <a:off x="6033939" y="2971502"/>
            <a:ext cx="2276252" cy="193849"/>
          </a:xfrm>
          <a:prstGeom prst="rect">
            <a:avLst/>
          </a:prstGeom>
          <a:noFill/>
          <a:ln/>
        </p:spPr>
        <p:txBody>
          <a:bodyPr wrap="none" lIns="0" tIns="0" rIns="0" bIns="0" rtlCol="0" anchor="t"/>
          <a:lstStyle/>
          <a:p>
            <a:pPr marL="0" indent="0" algn="l">
              <a:lnSpc>
                <a:spcPct val="104000"/>
              </a:lnSpc>
              <a:buNone/>
            </a:pPr>
            <a:r>
              <a:rPr lang="en-US" sz="1200" dirty="0">
                <a:solidFill>
                  <a:srgbClr val="1F7135"/>
                </a:solidFill>
                <a:latin typeface="Platypi Medium" pitchFamily="34" charset="0"/>
                <a:ea typeface="Platypi Medium" pitchFamily="34" charset="-122"/>
                <a:cs typeface="Platypi Medium" pitchFamily="34" charset="-120"/>
              </a:rPr>
              <a:t>Asynchronous Mail Resiliency</a:t>
            </a:r>
            <a:endParaRPr lang="en-US" sz="1200" dirty="0"/>
          </a:p>
        </p:txBody>
      </p:sp>
      <p:sp>
        <p:nvSpPr>
          <p:cNvPr id="14" name="Text 9"/>
          <p:cNvSpPr/>
          <p:nvPr/>
        </p:nvSpPr>
        <p:spPr>
          <a:xfrm>
            <a:off x="6033939" y="3239765"/>
            <a:ext cx="261394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SMTP alerts (welcome emails, assignment notifications) execute in non-blocking promise wrappers. Transporter failures are logged but never block the client's API response.</a:t>
            </a:r>
            <a:endParaRPr lang="en-US" sz="950" dirty="0"/>
          </a:p>
        </p:txBody>
      </p:sp>
      <p:sp>
        <p:nvSpPr>
          <p:cNvPr id="15" name="Rectangle 14">
            <a:extLst>
              <a:ext uri="{FF2B5EF4-FFF2-40B4-BE49-F238E27FC236}">
                <a16:creationId xmlns:a16="http://schemas.microsoft.com/office/drawing/2014/main" id="{6DC75D35-650F-C28D-2A57-4DCB3E430261}"/>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722263"/>
            <a:ext cx="847279" cy="233214"/>
          </a:xfrm>
          <a:prstGeom prst="roundRect">
            <a:avLst>
              <a:gd name="adj" fmla="val 6383"/>
            </a:avLst>
          </a:prstGeom>
          <a:solidFill>
            <a:srgbClr val="F3E3D8"/>
          </a:solidFill>
          <a:ln/>
        </p:spPr>
      </p:sp>
      <p:sp>
        <p:nvSpPr>
          <p:cNvPr id="3" name="Text 1"/>
          <p:cNvSpPr/>
          <p:nvPr/>
        </p:nvSpPr>
        <p:spPr>
          <a:xfrm>
            <a:off x="570533" y="759470"/>
            <a:ext cx="1155650" cy="158800"/>
          </a:xfrm>
          <a:prstGeom prst="rect">
            <a:avLst/>
          </a:prstGeom>
          <a:noFill/>
          <a:ln/>
        </p:spPr>
        <p:txBody>
          <a:bodyPr wrap="none" lIns="0" tIns="0" rIns="0" bIns="0" rtlCol="0" anchor="t"/>
          <a:lstStyle/>
          <a:p>
            <a:pPr marL="0" indent="0" algn="l">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ENGINEERING</a:t>
            </a:r>
            <a:endParaRPr lang="en-US" sz="750" dirty="0"/>
          </a:p>
        </p:txBody>
      </p:sp>
      <p:sp>
        <p:nvSpPr>
          <p:cNvPr id="4" name="Text 2"/>
          <p:cNvSpPr/>
          <p:nvPr/>
        </p:nvSpPr>
        <p:spPr>
          <a:xfrm>
            <a:off x="496119" y="1005036"/>
            <a:ext cx="6773317" cy="387548"/>
          </a:xfrm>
          <a:prstGeom prst="rect">
            <a:avLst/>
          </a:prstGeom>
          <a:noFill/>
          <a:ln/>
        </p:spPr>
        <p:txBody>
          <a:bodyPr wrap="none" lIns="0" tIns="0" rIns="0" bIns="0" rtlCol="0" anchor="t"/>
          <a:lstStyle/>
          <a:p>
            <a:pPr marL="0" indent="0" algn="l">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Technical Hurdles &amp; Practical Resolutions</a:t>
            </a:r>
            <a:endParaRPr lang="en-US" sz="2400" dirty="0"/>
          </a:p>
        </p:txBody>
      </p:sp>
      <p:sp>
        <p:nvSpPr>
          <p:cNvPr id="5" name="Text 3"/>
          <p:cNvSpPr/>
          <p:nvPr/>
        </p:nvSpPr>
        <p:spPr>
          <a:xfrm>
            <a:off x="496119" y="1578620"/>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Three core architectural challenges were identified and resolved during development, each with a pragmatic, production-viable solution.</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916609"/>
            <a:ext cx="2634555" cy="2504554"/>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0379" y="2023839"/>
            <a:ext cx="186035" cy="186035"/>
          </a:xfrm>
          <a:prstGeom prst="rect">
            <a:avLst/>
          </a:prstGeom>
        </p:spPr>
      </p:pic>
      <p:sp>
        <p:nvSpPr>
          <p:cNvPr id="8" name="Text 4"/>
          <p:cNvSpPr/>
          <p:nvPr/>
        </p:nvSpPr>
        <p:spPr>
          <a:xfrm>
            <a:off x="634380" y="2426940"/>
            <a:ext cx="1769269" cy="193849"/>
          </a:xfrm>
          <a:prstGeom prst="rect">
            <a:avLst/>
          </a:prstGeom>
          <a:noFill/>
          <a:ln/>
        </p:spPr>
        <p:txBody>
          <a:bodyPr wrap="none" lIns="0" tIns="0" rIns="0" bIns="0" rtlCol="0" anchor="t"/>
          <a:lstStyle/>
          <a:p>
            <a:pPr marL="0" indent="0" algn="l">
              <a:lnSpc>
                <a:spcPct val="104000"/>
              </a:lnSpc>
              <a:buNone/>
            </a:pPr>
            <a:r>
              <a:rPr lang="en-US" sz="1200" dirty="0">
                <a:solidFill>
                  <a:srgbClr val="504C49"/>
                </a:solidFill>
                <a:latin typeface="Platypi Medium" pitchFamily="34" charset="0"/>
                <a:ea typeface="Platypi Medium" pitchFamily="34" charset="-122"/>
                <a:cs typeface="Platypi Medium" pitchFamily="34" charset="-120"/>
              </a:rPr>
              <a:t>Stateless JWT Logouts</a:t>
            </a:r>
            <a:endParaRPr lang="en-US" sz="1200" dirty="0"/>
          </a:p>
        </p:txBody>
      </p:sp>
      <p:sp>
        <p:nvSpPr>
          <p:cNvPr id="9" name="Text 5"/>
          <p:cNvSpPr/>
          <p:nvPr/>
        </p:nvSpPr>
        <p:spPr>
          <a:xfrm>
            <a:off x="634380" y="2695203"/>
            <a:ext cx="2358033" cy="1389236"/>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504C49"/>
                </a:solidFill>
                <a:latin typeface="Source Serif 4" pitchFamily="34" charset="0"/>
                <a:ea typeface="Source Serif 4" pitchFamily="34" charset="-122"/>
                <a:cs typeface="Source Serif 4" pitchFamily="34" charset="-120"/>
              </a:rPr>
              <a:t>Challenge:</a:t>
            </a:r>
            <a:r>
              <a:rPr lang="en-US" sz="950" dirty="0">
                <a:solidFill>
                  <a:srgbClr val="504C49"/>
                </a:solidFill>
                <a:latin typeface="Source Serif 4" pitchFamily="34" charset="0"/>
                <a:ea typeface="Source Serif 4" pitchFamily="34" charset="-122"/>
                <a:cs typeface="Source Serif 4" pitchFamily="34" charset="-120"/>
              </a:rPr>
              <a:t> Stateless tokens cannot be invalidated server-side without introducing storage.</a:t>
            </a:r>
            <a:endParaRPr lang="en-US" sz="950" dirty="0"/>
          </a:p>
          <a:p>
            <a:pPr marL="0" indent="0" algn="l">
              <a:lnSpc>
                <a:spcPct val="133000"/>
              </a:lnSpc>
              <a:buNone/>
            </a:pPr>
            <a:r>
              <a:rPr lang="en-US" sz="950" b="1" dirty="0">
                <a:solidFill>
                  <a:srgbClr val="504C49"/>
                </a:solidFill>
                <a:latin typeface="Source Serif 4" pitchFamily="34" charset="0"/>
                <a:ea typeface="Source Serif 4" pitchFamily="34" charset="-122"/>
                <a:cs typeface="Source Serif 4" pitchFamily="34" charset="-120"/>
              </a:rPr>
              <a:t>Resolution:</a:t>
            </a:r>
            <a:r>
              <a:rPr lang="en-US" sz="950" dirty="0">
                <a:solidFill>
                  <a:srgbClr val="504C49"/>
                </a:solidFill>
                <a:latin typeface="Source Serif 4" pitchFamily="34" charset="0"/>
                <a:ea typeface="Source Serif 4" pitchFamily="34" charset="-122"/>
                <a:cs typeface="Source Serif 4" pitchFamily="34" charset="-120"/>
              </a:rPr>
              <a:t> Client-side token disposal combined with short expiration windows (7 days) limits the blast radius of a compromised token.</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4648" y="1916609"/>
            <a:ext cx="2634630" cy="2504554"/>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78908" y="2023839"/>
            <a:ext cx="186035" cy="186035"/>
          </a:xfrm>
          <a:prstGeom prst="rect">
            <a:avLst/>
          </a:prstGeom>
        </p:spPr>
      </p:pic>
      <p:sp>
        <p:nvSpPr>
          <p:cNvPr id="12" name="Text 6"/>
          <p:cNvSpPr/>
          <p:nvPr/>
        </p:nvSpPr>
        <p:spPr>
          <a:xfrm>
            <a:off x="3392909" y="2426940"/>
            <a:ext cx="1712863" cy="193849"/>
          </a:xfrm>
          <a:prstGeom prst="rect">
            <a:avLst/>
          </a:prstGeom>
          <a:noFill/>
          <a:ln/>
        </p:spPr>
        <p:txBody>
          <a:bodyPr wrap="none" lIns="0" tIns="0" rIns="0" bIns="0" rtlCol="0" anchor="t"/>
          <a:lstStyle/>
          <a:p>
            <a:pPr marL="0" indent="0" algn="l">
              <a:lnSpc>
                <a:spcPct val="104000"/>
              </a:lnSpc>
              <a:buNone/>
            </a:pPr>
            <a:r>
              <a:rPr lang="en-US" sz="1200" dirty="0">
                <a:solidFill>
                  <a:srgbClr val="504C49"/>
                </a:solidFill>
                <a:latin typeface="Platypi Medium" pitchFamily="34" charset="0"/>
                <a:ea typeface="Platypi Medium" pitchFamily="34" charset="-122"/>
                <a:cs typeface="Platypi Medium" pitchFamily="34" charset="-120"/>
              </a:rPr>
              <a:t>SMTP Server Blockage</a:t>
            </a:r>
            <a:endParaRPr lang="en-US" sz="1200" dirty="0"/>
          </a:p>
        </p:txBody>
      </p:sp>
      <p:sp>
        <p:nvSpPr>
          <p:cNvPr id="13" name="Text 7"/>
          <p:cNvSpPr/>
          <p:nvPr/>
        </p:nvSpPr>
        <p:spPr>
          <a:xfrm>
            <a:off x="3392909" y="2695203"/>
            <a:ext cx="2358107" cy="1587698"/>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504C49"/>
                </a:solidFill>
                <a:latin typeface="Source Serif 4" pitchFamily="34" charset="0"/>
                <a:ea typeface="Source Serif 4" pitchFamily="34" charset="-122"/>
                <a:cs typeface="Source Serif 4" pitchFamily="34" charset="-120"/>
              </a:rPr>
              <a:t>Challenge:</a:t>
            </a:r>
            <a:r>
              <a:rPr lang="en-US" sz="950" dirty="0">
                <a:solidFill>
                  <a:srgbClr val="504C49"/>
                </a:solidFill>
                <a:latin typeface="Source Serif 4" pitchFamily="34" charset="0"/>
                <a:ea typeface="Source Serif 4" pitchFamily="34" charset="-122"/>
                <a:cs typeface="Source Serif 4" pitchFamily="34" charset="-120"/>
              </a:rPr>
              <a:t> Network latency on SMTP handshakes was blocking REST API response threads, degrading throughput.</a:t>
            </a:r>
            <a:endParaRPr lang="en-US" sz="950" dirty="0"/>
          </a:p>
          <a:p>
            <a:pPr marL="0" indent="0" algn="l">
              <a:lnSpc>
                <a:spcPct val="133000"/>
              </a:lnSpc>
              <a:buNone/>
            </a:pPr>
            <a:r>
              <a:rPr lang="en-US" sz="950" b="1" dirty="0">
                <a:solidFill>
                  <a:srgbClr val="504C49"/>
                </a:solidFill>
                <a:latin typeface="Source Serif 4" pitchFamily="34" charset="0"/>
                <a:ea typeface="Source Serif 4" pitchFamily="34" charset="-122"/>
                <a:cs typeface="Source Serif 4" pitchFamily="34" charset="-120"/>
              </a:rPr>
              <a:t>Resolution:</a:t>
            </a:r>
            <a:r>
              <a:rPr lang="en-US" sz="950" dirty="0">
                <a:solidFill>
                  <a:srgbClr val="504C49"/>
                </a:solidFill>
                <a:latin typeface="Source Serif 4" pitchFamily="34" charset="0"/>
                <a:ea typeface="Source Serif 4" pitchFamily="34" charset="-122"/>
                <a:cs typeface="Source Serif 4" pitchFamily="34" charset="-120"/>
              </a:rPr>
              <a:t> Mail delivery was decoupled from the request-response thread using fire-and-forget promise wrappers.</a:t>
            </a:r>
            <a:endParaRPr lang="en-US" sz="9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3252" y="1916609"/>
            <a:ext cx="2634555" cy="2504554"/>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37512" y="2023839"/>
            <a:ext cx="186035" cy="186035"/>
          </a:xfrm>
          <a:prstGeom prst="rect">
            <a:avLst/>
          </a:prstGeom>
        </p:spPr>
      </p:pic>
      <p:sp>
        <p:nvSpPr>
          <p:cNvPr id="16" name="Text 8"/>
          <p:cNvSpPr/>
          <p:nvPr/>
        </p:nvSpPr>
        <p:spPr>
          <a:xfrm>
            <a:off x="6151513" y="2426940"/>
            <a:ext cx="1601837" cy="193849"/>
          </a:xfrm>
          <a:prstGeom prst="rect">
            <a:avLst/>
          </a:prstGeom>
          <a:noFill/>
          <a:ln/>
        </p:spPr>
        <p:txBody>
          <a:bodyPr wrap="none" lIns="0" tIns="0" rIns="0" bIns="0" rtlCol="0" anchor="t"/>
          <a:lstStyle/>
          <a:p>
            <a:pPr marL="0" indent="0" algn="l">
              <a:lnSpc>
                <a:spcPct val="104000"/>
              </a:lnSpc>
              <a:buNone/>
            </a:pPr>
            <a:r>
              <a:rPr lang="en-US" sz="1200" dirty="0">
                <a:solidFill>
                  <a:srgbClr val="504C49"/>
                </a:solidFill>
                <a:latin typeface="Platypi Medium" pitchFamily="34" charset="0"/>
                <a:ea typeface="Platypi Medium" pitchFamily="34" charset="-122"/>
                <a:cs typeface="Platypi Medium" pitchFamily="34" charset="-120"/>
              </a:rPr>
              <a:t>Concurrency Overlap</a:t>
            </a:r>
            <a:endParaRPr lang="en-US" sz="1200" dirty="0"/>
          </a:p>
        </p:txBody>
      </p:sp>
      <p:sp>
        <p:nvSpPr>
          <p:cNvPr id="17" name="Text 9"/>
          <p:cNvSpPr/>
          <p:nvPr/>
        </p:nvSpPr>
        <p:spPr>
          <a:xfrm>
            <a:off x="6151513" y="2695203"/>
            <a:ext cx="2358033" cy="1587698"/>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504C49"/>
                </a:solidFill>
                <a:latin typeface="Source Serif 4" pitchFamily="34" charset="0"/>
                <a:ea typeface="Source Serif 4" pitchFamily="34" charset="-122"/>
                <a:cs typeface="Source Serif 4" pitchFamily="34" charset="-120"/>
              </a:rPr>
              <a:t>Challenge:</a:t>
            </a:r>
            <a:r>
              <a:rPr lang="en-US" sz="950" dirty="0">
                <a:solidFill>
                  <a:srgbClr val="504C49"/>
                </a:solidFill>
                <a:latin typeface="Source Serif 4" pitchFamily="34" charset="0"/>
                <a:ea typeface="Source Serif 4" pitchFamily="34" charset="-122"/>
                <a:cs typeface="Source Serif 4" pitchFamily="34" charset="-120"/>
              </a:rPr>
              <a:t> Concurrent lead creation requests caused load-balancing drift, assigning multiple leads to the same agent.</a:t>
            </a:r>
            <a:endParaRPr lang="en-US" sz="950" dirty="0"/>
          </a:p>
          <a:p>
            <a:pPr marL="0" indent="0" algn="l">
              <a:lnSpc>
                <a:spcPct val="133000"/>
              </a:lnSpc>
              <a:buNone/>
            </a:pPr>
            <a:r>
              <a:rPr lang="en-US" sz="950" b="1" dirty="0">
                <a:solidFill>
                  <a:srgbClr val="504C49"/>
                </a:solidFill>
                <a:latin typeface="Source Serif 4" pitchFamily="34" charset="0"/>
                <a:ea typeface="Source Serif 4" pitchFamily="34" charset="-122"/>
                <a:cs typeface="Source Serif 4" pitchFamily="34" charset="-120"/>
              </a:rPr>
              <a:t>Resolution:</a:t>
            </a:r>
            <a:r>
              <a:rPr lang="en-US" sz="950" dirty="0">
                <a:solidFill>
                  <a:srgbClr val="504C49"/>
                </a:solidFill>
                <a:latin typeface="Source Serif 4" pitchFamily="34" charset="0"/>
                <a:ea typeface="Source Serif 4" pitchFamily="34" charset="-122"/>
                <a:cs typeface="Source Serif 4" pitchFamily="34" charset="-120"/>
              </a:rPr>
              <a:t> PostgreSQL transactional advisory locks serialize assignment blocks, eliminating race conditions at the database level.</a:t>
            </a:r>
            <a:endParaRPr lang="en-US" sz="950" dirty="0"/>
          </a:p>
        </p:txBody>
      </p:sp>
      <p:sp>
        <p:nvSpPr>
          <p:cNvPr id="18" name="Rectangle 17">
            <a:extLst>
              <a:ext uri="{FF2B5EF4-FFF2-40B4-BE49-F238E27FC236}">
                <a16:creationId xmlns:a16="http://schemas.microsoft.com/office/drawing/2014/main" id="{A7BCA7A3-8B1D-8B98-F1A1-9BDA63D2EE72}"/>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387102"/>
            <a:ext cx="619199" cy="218554"/>
          </a:xfrm>
          <a:prstGeom prst="roundRect">
            <a:avLst>
              <a:gd name="adj" fmla="val 6492"/>
            </a:avLst>
          </a:prstGeom>
          <a:solidFill>
            <a:srgbClr val="F3E3D8"/>
          </a:solidFill>
          <a:ln/>
        </p:spPr>
      </p:sp>
      <p:sp>
        <p:nvSpPr>
          <p:cNvPr id="3" name="Text 1"/>
          <p:cNvSpPr/>
          <p:nvPr/>
        </p:nvSpPr>
        <p:spPr>
          <a:xfrm>
            <a:off x="567035" y="422523"/>
            <a:ext cx="934566" cy="147712"/>
          </a:xfrm>
          <a:prstGeom prst="rect">
            <a:avLst/>
          </a:prstGeom>
          <a:noFill/>
          <a:ln/>
        </p:spPr>
        <p:txBody>
          <a:bodyPr wrap="none" lIns="0" tIns="0" rIns="0" bIns="0" rtlCol="0" anchor="t"/>
          <a:lstStyle/>
          <a:p>
            <a:pPr marL="0" indent="0" algn="l">
              <a:lnSpc>
                <a:spcPct val="130000"/>
              </a:lnSpc>
              <a:buNone/>
            </a:pPr>
            <a:r>
              <a:rPr lang="en-US" sz="700" dirty="0">
                <a:solidFill>
                  <a:srgbClr val="504C49"/>
                </a:solidFill>
                <a:latin typeface="Source Serif 4" pitchFamily="34" charset="0"/>
                <a:ea typeface="Source Serif 4" pitchFamily="34" charset="-122"/>
                <a:cs typeface="Source Serif 4" pitchFamily="34" charset="-120"/>
              </a:rPr>
              <a:t>ROADMAP</a:t>
            </a:r>
            <a:endParaRPr lang="en-US" sz="700" dirty="0"/>
          </a:p>
        </p:txBody>
      </p:sp>
      <p:sp>
        <p:nvSpPr>
          <p:cNvPr id="4" name="Text 2"/>
          <p:cNvSpPr/>
          <p:nvPr/>
        </p:nvSpPr>
        <p:spPr>
          <a:xfrm>
            <a:off x="496119" y="650677"/>
            <a:ext cx="7667923" cy="369466"/>
          </a:xfrm>
          <a:prstGeom prst="rect">
            <a:avLst/>
          </a:prstGeom>
          <a:noFill/>
          <a:ln/>
        </p:spPr>
        <p:txBody>
          <a:bodyPr wrap="none" lIns="0" tIns="0" rIns="0" bIns="0" rtlCol="0" anchor="t"/>
          <a:lstStyle/>
          <a:p>
            <a:pPr marL="0" indent="0" algn="l">
              <a:lnSpc>
                <a:spcPct val="104000"/>
              </a:lnSpc>
              <a:buNone/>
            </a:pPr>
            <a:r>
              <a:rPr lang="en-US" sz="2300" dirty="0">
                <a:solidFill>
                  <a:srgbClr val="201B18"/>
                </a:solidFill>
                <a:latin typeface="Platypi Medium" pitchFamily="34" charset="0"/>
                <a:ea typeface="Platypi Medium" pitchFamily="34" charset="-122"/>
                <a:cs typeface="Platypi Medium" pitchFamily="34" charset="-120"/>
              </a:rPr>
              <a:t>Production Enhancements &amp; Scalability Roadmap</a:t>
            </a:r>
            <a:endParaRPr lang="en-US" sz="2300" dirty="0"/>
          </a:p>
        </p:txBody>
      </p:sp>
      <p:sp>
        <p:nvSpPr>
          <p:cNvPr id="5" name="Text 3"/>
          <p:cNvSpPr/>
          <p:nvPr/>
        </p:nvSpPr>
        <p:spPr>
          <a:xfrm>
            <a:off x="496119" y="1189137"/>
            <a:ext cx="8608963" cy="184696"/>
          </a:xfrm>
          <a:prstGeom prst="rect">
            <a:avLst/>
          </a:prstGeom>
          <a:noFill/>
          <a:ln/>
        </p:spPr>
        <p:txBody>
          <a:bodyPr wrap="none" lIns="0" tIns="0" rIns="0" bIns="0" rtlCol="0" anchor="t"/>
          <a:lstStyle/>
          <a:p>
            <a:pPr marL="0" indent="0" algn="l">
              <a:lnSpc>
                <a:spcPct val="130000"/>
              </a:lnSpc>
              <a:buNone/>
            </a:pPr>
            <a:r>
              <a:rPr lang="en-US" sz="900" dirty="0">
                <a:solidFill>
                  <a:srgbClr val="504C49"/>
                </a:solidFill>
                <a:latin typeface="Source Serif 4" pitchFamily="34" charset="0"/>
                <a:ea typeface="Source Serif 4" pitchFamily="34" charset="-122"/>
                <a:cs typeface="Source Serif 4" pitchFamily="34" charset="-120"/>
              </a:rPr>
              <a:t>Architectural upgrades planned to support high-velocity enterprise traffic, horizontal scaling, and real-time user experiences.</a:t>
            </a:r>
            <a:endParaRPr lang="en-US" sz="900" dirty="0"/>
          </a:p>
        </p:txBody>
      </p:sp>
      <p:sp>
        <p:nvSpPr>
          <p:cNvPr id="6" name="Shape 4"/>
          <p:cNvSpPr/>
          <p:nvPr/>
        </p:nvSpPr>
        <p:spPr>
          <a:xfrm>
            <a:off x="673447" y="1796132"/>
            <a:ext cx="3842147" cy="118170"/>
          </a:xfrm>
          <a:prstGeom prst="roundRect">
            <a:avLst>
              <a:gd name="adj" fmla="val 15008"/>
            </a:avLst>
          </a:prstGeom>
          <a:solidFill>
            <a:srgbClr val="F9F7F7"/>
          </a:solidFill>
          <a:ln/>
        </p:spPr>
      </p:sp>
      <p:sp>
        <p:nvSpPr>
          <p:cNvPr id="7" name="Shape 5"/>
          <p:cNvSpPr/>
          <p:nvPr/>
        </p:nvSpPr>
        <p:spPr>
          <a:xfrm>
            <a:off x="496119" y="1677888"/>
            <a:ext cx="354657" cy="354657"/>
          </a:xfrm>
          <a:prstGeom prst="roundRect">
            <a:avLst>
              <a:gd name="adj" fmla="val 80571"/>
            </a:avLst>
          </a:prstGeom>
          <a:solidFill>
            <a:srgbClr val="F9F7F7"/>
          </a:solidFill>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746" y="1766590"/>
            <a:ext cx="177329" cy="177329"/>
          </a:xfrm>
          <a:prstGeom prst="rect">
            <a:avLst/>
          </a:prstGeom>
        </p:spPr>
      </p:pic>
      <p:sp>
        <p:nvSpPr>
          <p:cNvPr id="9" name="Text 6"/>
          <p:cNvSpPr/>
          <p:nvPr/>
        </p:nvSpPr>
        <p:spPr>
          <a:xfrm>
            <a:off x="614288" y="2145209"/>
            <a:ext cx="1655415" cy="184696"/>
          </a:xfrm>
          <a:prstGeom prst="rect">
            <a:avLst/>
          </a:prstGeom>
          <a:noFill/>
          <a:ln/>
        </p:spPr>
        <p:txBody>
          <a:bodyPr wrap="none" lIns="0" tIns="0" rIns="0" bIns="0" rtlCol="0" anchor="t"/>
          <a:lstStyle/>
          <a:p>
            <a:pPr marL="0" indent="0" algn="l">
              <a:lnSpc>
                <a:spcPct val="104000"/>
              </a:lnSpc>
              <a:buNone/>
            </a:pPr>
            <a:r>
              <a:rPr lang="en-US" sz="1150" dirty="0">
                <a:solidFill>
                  <a:srgbClr val="1F7135"/>
                </a:solidFill>
                <a:latin typeface="Platypi Medium" pitchFamily="34" charset="0"/>
                <a:ea typeface="Platypi Medium" pitchFamily="34" charset="-122"/>
                <a:cs typeface="Platypi Medium" pitchFamily="34" charset="-120"/>
              </a:rPr>
              <a:t>Cookie Token Rotation</a:t>
            </a:r>
            <a:endParaRPr lang="en-US" sz="1150" dirty="0"/>
          </a:p>
        </p:txBody>
      </p:sp>
      <p:sp>
        <p:nvSpPr>
          <p:cNvPr id="10" name="Text 7"/>
          <p:cNvSpPr/>
          <p:nvPr/>
        </p:nvSpPr>
        <p:spPr>
          <a:xfrm>
            <a:off x="614288" y="2397472"/>
            <a:ext cx="3783211" cy="558850"/>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504C49"/>
                </a:solidFill>
                <a:latin typeface="Source Serif 4" pitchFamily="34" charset="0"/>
                <a:ea typeface="Source Serif 4" pitchFamily="34" charset="-122"/>
                <a:cs typeface="Source Serif 4" pitchFamily="34" charset="-120"/>
              </a:rPr>
              <a:t>Migrate JWT tokens from browser local storage to secure </a:t>
            </a:r>
            <a:r>
              <a:rPr lang="en-US" sz="900" dirty="0">
                <a:solidFill>
                  <a:srgbClr val="504C49"/>
                </a:solidFill>
                <a:highlight>
                  <a:srgbClr val="F2F2F2"/>
                </a:highlight>
                <a:latin typeface="Consolas" pitchFamily="34" charset="0"/>
                <a:ea typeface="Consolas" pitchFamily="34" charset="-122"/>
                <a:cs typeface="Consolas" pitchFamily="34" charset="-120"/>
              </a:rPr>
              <a:t>HttpOnly</a:t>
            </a:r>
            <a:r>
              <a:rPr lang="en-US" sz="900" dirty="0">
                <a:solidFill>
                  <a:srgbClr val="504C49"/>
                </a:solidFill>
                <a:latin typeface="Source Serif 4" pitchFamily="34" charset="0"/>
                <a:ea typeface="Source Serif 4" pitchFamily="34" charset="-122"/>
                <a:cs typeface="Source Serif 4" pitchFamily="34" charset="-120"/>
              </a:rPr>
              <a:t> cookie exchange routes, eliminating XSS attack surface and enabling silent token refresh cycles.</a:t>
            </a:r>
            <a:endParaRPr lang="en-US" sz="900" dirty="0"/>
          </a:p>
        </p:txBody>
      </p:sp>
      <p:sp>
        <p:nvSpPr>
          <p:cNvPr id="11" name="Shape 8"/>
          <p:cNvSpPr/>
          <p:nvPr/>
        </p:nvSpPr>
        <p:spPr>
          <a:xfrm>
            <a:off x="4805660" y="1618804"/>
            <a:ext cx="3842147" cy="118170"/>
          </a:xfrm>
          <a:prstGeom prst="roundRect">
            <a:avLst>
              <a:gd name="adj" fmla="val 15008"/>
            </a:avLst>
          </a:prstGeom>
          <a:solidFill>
            <a:srgbClr val="F9F7F7"/>
          </a:solidFill>
          <a:ln/>
        </p:spPr>
      </p:sp>
      <p:sp>
        <p:nvSpPr>
          <p:cNvPr id="12" name="Shape 9"/>
          <p:cNvSpPr/>
          <p:nvPr/>
        </p:nvSpPr>
        <p:spPr>
          <a:xfrm>
            <a:off x="4628331" y="1500560"/>
            <a:ext cx="354657" cy="354657"/>
          </a:xfrm>
          <a:prstGeom prst="roundRect">
            <a:avLst>
              <a:gd name="adj" fmla="val 80571"/>
            </a:avLst>
          </a:prstGeom>
          <a:solidFill>
            <a:srgbClr val="F9F7F7"/>
          </a:solidFill>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959" y="1589261"/>
            <a:ext cx="177329" cy="177329"/>
          </a:xfrm>
          <a:prstGeom prst="rect">
            <a:avLst/>
          </a:prstGeom>
        </p:spPr>
      </p:pic>
      <p:sp>
        <p:nvSpPr>
          <p:cNvPr id="14" name="Text 10"/>
          <p:cNvSpPr/>
          <p:nvPr/>
        </p:nvSpPr>
        <p:spPr>
          <a:xfrm>
            <a:off x="4746501" y="1967880"/>
            <a:ext cx="1477863" cy="184696"/>
          </a:xfrm>
          <a:prstGeom prst="rect">
            <a:avLst/>
          </a:prstGeom>
          <a:noFill/>
          <a:ln/>
        </p:spPr>
        <p:txBody>
          <a:bodyPr wrap="none" lIns="0" tIns="0" rIns="0" bIns="0" rtlCol="0" anchor="t"/>
          <a:lstStyle/>
          <a:p>
            <a:pPr marL="0" indent="0" algn="l">
              <a:lnSpc>
                <a:spcPct val="104000"/>
              </a:lnSpc>
              <a:buNone/>
            </a:pPr>
            <a:r>
              <a:rPr lang="en-US" sz="1150" dirty="0">
                <a:solidFill>
                  <a:srgbClr val="1F7135"/>
                </a:solidFill>
                <a:latin typeface="Platypi Medium" pitchFamily="34" charset="0"/>
                <a:ea typeface="Platypi Medium" pitchFamily="34" charset="-122"/>
                <a:cs typeface="Platypi Medium" pitchFamily="34" charset="-120"/>
              </a:rPr>
              <a:t>Distributed Caching</a:t>
            </a:r>
            <a:endParaRPr lang="en-US" sz="1150" dirty="0"/>
          </a:p>
        </p:txBody>
      </p:sp>
      <p:sp>
        <p:nvSpPr>
          <p:cNvPr id="15" name="Text 11"/>
          <p:cNvSpPr/>
          <p:nvPr/>
        </p:nvSpPr>
        <p:spPr>
          <a:xfrm>
            <a:off x="4746501" y="2220144"/>
            <a:ext cx="3783211"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504C49"/>
                </a:solidFill>
                <a:latin typeface="Source Serif 4" pitchFamily="34" charset="0"/>
                <a:ea typeface="Source Serif 4" pitchFamily="34" charset="-122"/>
                <a:cs typeface="Source Serif 4" pitchFamily="34" charset="-120"/>
              </a:rPr>
              <a:t>Migrate rate limiters and session caches to a Redis cluster, enabling horizontal scaling of the API layer without shared-state bottlenecks.</a:t>
            </a:r>
            <a:endParaRPr lang="en-US" sz="900" dirty="0"/>
          </a:p>
        </p:txBody>
      </p:sp>
      <p:sp>
        <p:nvSpPr>
          <p:cNvPr id="16" name="Shape 12"/>
          <p:cNvSpPr/>
          <p:nvPr/>
        </p:nvSpPr>
        <p:spPr>
          <a:xfrm>
            <a:off x="673447" y="3482727"/>
            <a:ext cx="3842147" cy="118170"/>
          </a:xfrm>
          <a:prstGeom prst="roundRect">
            <a:avLst>
              <a:gd name="adj" fmla="val 15008"/>
            </a:avLst>
          </a:prstGeom>
          <a:solidFill>
            <a:srgbClr val="F9F7F7"/>
          </a:solidFill>
          <a:ln/>
        </p:spPr>
      </p:sp>
      <p:sp>
        <p:nvSpPr>
          <p:cNvPr id="17" name="Shape 13"/>
          <p:cNvSpPr/>
          <p:nvPr/>
        </p:nvSpPr>
        <p:spPr>
          <a:xfrm>
            <a:off x="496119" y="3364483"/>
            <a:ext cx="354657" cy="354657"/>
          </a:xfrm>
          <a:prstGeom prst="roundRect">
            <a:avLst>
              <a:gd name="adj" fmla="val 80571"/>
            </a:avLst>
          </a:prstGeom>
          <a:solidFill>
            <a:srgbClr val="F9F7F7"/>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4746" y="3453185"/>
            <a:ext cx="177329" cy="177329"/>
          </a:xfrm>
          <a:prstGeom prst="rect">
            <a:avLst/>
          </a:prstGeom>
        </p:spPr>
      </p:pic>
      <p:sp>
        <p:nvSpPr>
          <p:cNvPr id="19" name="Text 14"/>
          <p:cNvSpPr/>
          <p:nvPr/>
        </p:nvSpPr>
        <p:spPr>
          <a:xfrm>
            <a:off x="614288" y="3831803"/>
            <a:ext cx="2039317" cy="184696"/>
          </a:xfrm>
          <a:prstGeom prst="rect">
            <a:avLst/>
          </a:prstGeom>
          <a:noFill/>
          <a:ln/>
        </p:spPr>
        <p:txBody>
          <a:bodyPr wrap="none" lIns="0" tIns="0" rIns="0" bIns="0" rtlCol="0" anchor="t"/>
          <a:lstStyle/>
          <a:p>
            <a:pPr marL="0" indent="0" algn="l">
              <a:lnSpc>
                <a:spcPct val="104000"/>
              </a:lnSpc>
              <a:buNone/>
            </a:pPr>
            <a:r>
              <a:rPr lang="en-US" sz="1150" dirty="0">
                <a:solidFill>
                  <a:srgbClr val="504C49"/>
                </a:solidFill>
                <a:latin typeface="Platypi Medium" pitchFamily="34" charset="0"/>
                <a:ea typeface="Platypi Medium" pitchFamily="34" charset="-122"/>
                <a:cs typeface="Platypi Medium" pitchFamily="34" charset="-120"/>
              </a:rPr>
              <a:t>Background Worker Queues</a:t>
            </a:r>
            <a:endParaRPr lang="en-US" sz="1150" dirty="0"/>
          </a:p>
        </p:txBody>
      </p:sp>
      <p:sp>
        <p:nvSpPr>
          <p:cNvPr id="20" name="Text 15"/>
          <p:cNvSpPr/>
          <p:nvPr/>
        </p:nvSpPr>
        <p:spPr>
          <a:xfrm>
            <a:off x="614288" y="4084067"/>
            <a:ext cx="3783211"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504C49"/>
                </a:solidFill>
                <a:latin typeface="Source Serif 4" pitchFamily="34" charset="0"/>
                <a:ea typeface="Source Serif 4" pitchFamily="34" charset="-122"/>
                <a:cs typeface="Source Serif 4" pitchFamily="34" charset="-120"/>
              </a:rPr>
              <a:t>Introduce BullMQ + Redis to guarantee asynchronous email delivery with retry logic, dead-letter queues, and observable job state — removing all fire-and-forget risk. (Not implemented)</a:t>
            </a:r>
            <a:endParaRPr lang="en-US" sz="900" dirty="0"/>
          </a:p>
        </p:txBody>
      </p:sp>
      <p:sp>
        <p:nvSpPr>
          <p:cNvPr id="21" name="Shape 16"/>
          <p:cNvSpPr/>
          <p:nvPr/>
        </p:nvSpPr>
        <p:spPr>
          <a:xfrm>
            <a:off x="4805660" y="3305398"/>
            <a:ext cx="3842147" cy="118170"/>
          </a:xfrm>
          <a:prstGeom prst="roundRect">
            <a:avLst>
              <a:gd name="adj" fmla="val 15008"/>
            </a:avLst>
          </a:prstGeom>
          <a:solidFill>
            <a:srgbClr val="F9F7F7"/>
          </a:solidFill>
          <a:ln/>
        </p:spPr>
      </p:sp>
      <p:sp>
        <p:nvSpPr>
          <p:cNvPr id="22" name="Shape 17"/>
          <p:cNvSpPr/>
          <p:nvPr/>
        </p:nvSpPr>
        <p:spPr>
          <a:xfrm>
            <a:off x="4628331" y="3187154"/>
            <a:ext cx="354657" cy="354657"/>
          </a:xfrm>
          <a:prstGeom prst="roundRect">
            <a:avLst>
              <a:gd name="adj" fmla="val 80571"/>
            </a:avLst>
          </a:prstGeom>
          <a:solidFill>
            <a:srgbClr val="F9F7F7"/>
          </a:solidFill>
          <a:ln/>
        </p:spPr>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16959" y="3275856"/>
            <a:ext cx="177329" cy="177329"/>
          </a:xfrm>
          <a:prstGeom prst="rect">
            <a:avLst/>
          </a:prstGeom>
        </p:spPr>
      </p:pic>
      <p:sp>
        <p:nvSpPr>
          <p:cNvPr id="24" name="Text 18"/>
          <p:cNvSpPr/>
          <p:nvPr/>
        </p:nvSpPr>
        <p:spPr>
          <a:xfrm>
            <a:off x="4746501" y="3654475"/>
            <a:ext cx="2011561" cy="184696"/>
          </a:xfrm>
          <a:prstGeom prst="rect">
            <a:avLst/>
          </a:prstGeom>
          <a:noFill/>
          <a:ln/>
        </p:spPr>
        <p:txBody>
          <a:bodyPr wrap="none" lIns="0" tIns="0" rIns="0" bIns="0" rtlCol="0" anchor="t"/>
          <a:lstStyle/>
          <a:p>
            <a:pPr marL="0" indent="0" algn="l">
              <a:lnSpc>
                <a:spcPct val="104000"/>
              </a:lnSpc>
              <a:buNone/>
            </a:pPr>
            <a:r>
              <a:rPr lang="en-US" sz="1150" dirty="0">
                <a:solidFill>
                  <a:srgbClr val="504C49"/>
                </a:solidFill>
                <a:latin typeface="Platypi Medium" pitchFamily="34" charset="0"/>
                <a:ea typeface="Platypi Medium" pitchFamily="34" charset="-122"/>
                <a:cs typeface="Platypi Medium" pitchFamily="34" charset="-120"/>
              </a:rPr>
              <a:t>WebSockets &amp; Live Updates</a:t>
            </a:r>
            <a:endParaRPr lang="en-US" sz="1150" dirty="0"/>
          </a:p>
        </p:txBody>
      </p:sp>
      <p:sp>
        <p:nvSpPr>
          <p:cNvPr id="25" name="Text 19"/>
          <p:cNvSpPr/>
          <p:nvPr/>
        </p:nvSpPr>
        <p:spPr>
          <a:xfrm>
            <a:off x="4746501" y="3906738"/>
            <a:ext cx="3783211"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504C49"/>
                </a:solidFill>
                <a:latin typeface="Source Serif 4" pitchFamily="34" charset="0"/>
                <a:ea typeface="Source Serif 4" pitchFamily="34" charset="-122"/>
                <a:cs typeface="Source Serif 4" pitchFamily="34" charset="-120"/>
              </a:rPr>
              <a:t>Integrate Socket.io to push real-time lead updates and assignment notifications directly to agent dashboards, eliminating polling latency and improving UX responsiveness.</a:t>
            </a:r>
            <a:endParaRPr lang="en-US" sz="900" dirty="0"/>
          </a:p>
        </p:txBody>
      </p:sp>
      <p:sp>
        <p:nvSpPr>
          <p:cNvPr id="26" name="Rectangle 25">
            <a:extLst>
              <a:ext uri="{FF2B5EF4-FFF2-40B4-BE49-F238E27FC236}">
                <a16:creationId xmlns:a16="http://schemas.microsoft.com/office/drawing/2014/main" id="{E043263A-BC8A-BB2C-19C1-A4C86CCFB45C}"/>
              </a:ext>
            </a:extLst>
          </p:cNvPr>
          <p:cNvSpPr/>
          <p:nvPr/>
        </p:nvSpPr>
        <p:spPr>
          <a:xfrm>
            <a:off x="8059783" y="4872445"/>
            <a:ext cx="1022230" cy="229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1171</Words>
  <Application>Microsoft Office PowerPoint</Application>
  <PresentationFormat>On-screen Show (16:9)</PresentationFormat>
  <Paragraphs>111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Source Serif 4</vt:lpstr>
      <vt:lpstr>Consolas</vt:lpstr>
      <vt:lpstr>Platypi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chaitanya Patil</cp:lastModifiedBy>
  <cp:revision>2</cp:revision>
  <dcterms:created xsi:type="dcterms:W3CDTF">2026-06-12T15:34:41Z</dcterms:created>
  <dcterms:modified xsi:type="dcterms:W3CDTF">2026-06-12T15:36:23Z</dcterms:modified>
</cp:coreProperties>
</file>